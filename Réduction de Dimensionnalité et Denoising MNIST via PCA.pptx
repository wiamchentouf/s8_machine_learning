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Agrandir Bold" panose="020B0604020202020204" charset="0"/>
      <p:regular r:id="rId15"/>
    </p:embeddedFont>
    <p:embeddedFont>
      <p:font typeface="Open Sauce" panose="020B0604020202020204" charset="0"/>
      <p:regular r:id="rId16"/>
    </p:embeddedFont>
    <p:embeddedFont>
      <p:font typeface="Open Sauce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74983" y="8506341"/>
            <a:ext cx="639395" cy="683024"/>
          </a:xfrm>
          <a:custGeom>
            <a:avLst/>
            <a:gdLst/>
            <a:ahLst/>
            <a:cxnLst/>
            <a:rect l="l" t="t" r="r" b="b"/>
            <a:pathLst>
              <a:path w="639395" h="683024">
                <a:moveTo>
                  <a:pt x="0" y="0"/>
                </a:moveTo>
                <a:lnTo>
                  <a:pt x="639395" y="0"/>
                </a:lnTo>
                <a:lnTo>
                  <a:pt x="639395" y="683024"/>
                </a:lnTo>
                <a:lnTo>
                  <a:pt x="0" y="683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028251" y="8491177"/>
            <a:ext cx="697121" cy="805246"/>
          </a:xfrm>
          <a:custGeom>
            <a:avLst/>
            <a:gdLst/>
            <a:ahLst/>
            <a:cxnLst/>
            <a:rect l="l" t="t" r="r" b="b"/>
            <a:pathLst>
              <a:path w="697121" h="805246">
                <a:moveTo>
                  <a:pt x="0" y="0"/>
                </a:moveTo>
                <a:lnTo>
                  <a:pt x="697121" y="0"/>
                </a:lnTo>
                <a:lnTo>
                  <a:pt x="697121" y="805246"/>
                </a:lnTo>
                <a:lnTo>
                  <a:pt x="0" y="8052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272158" y="1897158"/>
            <a:ext cx="5448812" cy="3176679"/>
          </a:xfrm>
          <a:custGeom>
            <a:avLst/>
            <a:gdLst/>
            <a:ahLst/>
            <a:cxnLst/>
            <a:rect l="l" t="t" r="r" b="b"/>
            <a:pathLst>
              <a:path w="5448812" h="3176679">
                <a:moveTo>
                  <a:pt x="0" y="0"/>
                </a:moveTo>
                <a:lnTo>
                  <a:pt x="5448812" y="0"/>
                </a:lnTo>
                <a:lnTo>
                  <a:pt x="5448812" y="3176679"/>
                </a:lnTo>
                <a:lnTo>
                  <a:pt x="0" y="31766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15256178" y="4092989"/>
            <a:ext cx="819852" cy="1290948"/>
          </a:xfrm>
          <a:custGeom>
            <a:avLst/>
            <a:gdLst/>
            <a:ahLst/>
            <a:cxnLst/>
            <a:rect l="l" t="t" r="r" b="b"/>
            <a:pathLst>
              <a:path w="819852" h="1290948">
                <a:moveTo>
                  <a:pt x="0" y="0"/>
                </a:moveTo>
                <a:lnTo>
                  <a:pt x="819852" y="0"/>
                </a:lnTo>
                <a:lnTo>
                  <a:pt x="819852" y="1290948"/>
                </a:lnTo>
                <a:lnTo>
                  <a:pt x="0" y="12909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4436524" y="1921440"/>
            <a:ext cx="11397238" cy="1784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59"/>
              </a:lnSpc>
              <a:spcBef>
                <a:spcPct val="0"/>
              </a:spcBef>
            </a:pPr>
            <a:r>
              <a:rPr lang="en-US" sz="4756" b="1" u="none" strike="noStrike" spc="-95" dirty="0">
                <a:solidFill>
                  <a:srgbClr val="2B598F"/>
                </a:solidFill>
                <a:latin typeface="Agrandir Bold"/>
                <a:ea typeface="Agrandir Bold"/>
                <a:cs typeface="Agrandir Bold"/>
                <a:sym typeface="Agrandir Bold"/>
              </a:rPr>
              <a:t>RÉDUCTION DE DIMENSIONNALITÉ, DENOISING ET CLASSIFICATION MNIST</a:t>
            </a:r>
          </a:p>
        </p:txBody>
      </p:sp>
      <p:sp>
        <p:nvSpPr>
          <p:cNvPr id="7" name="Freeform 7"/>
          <p:cNvSpPr/>
          <p:nvPr/>
        </p:nvSpPr>
        <p:spPr>
          <a:xfrm>
            <a:off x="7002513" y="4821207"/>
            <a:ext cx="2100584" cy="2100584"/>
          </a:xfrm>
          <a:custGeom>
            <a:avLst/>
            <a:gdLst/>
            <a:ahLst/>
            <a:cxnLst/>
            <a:rect l="l" t="t" r="r" b="b"/>
            <a:pathLst>
              <a:path w="2100584" h="2100584">
                <a:moveTo>
                  <a:pt x="0" y="0"/>
                </a:moveTo>
                <a:lnTo>
                  <a:pt x="2100583" y="0"/>
                </a:lnTo>
                <a:lnTo>
                  <a:pt x="2100583" y="2100584"/>
                </a:lnTo>
                <a:lnTo>
                  <a:pt x="0" y="21005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 dirty="0"/>
          </a:p>
        </p:txBody>
      </p:sp>
      <p:sp>
        <p:nvSpPr>
          <p:cNvPr id="8" name="Freeform 8"/>
          <p:cNvSpPr/>
          <p:nvPr/>
        </p:nvSpPr>
        <p:spPr>
          <a:xfrm>
            <a:off x="13849910" y="5386754"/>
            <a:ext cx="3517377" cy="2207154"/>
          </a:xfrm>
          <a:custGeom>
            <a:avLst/>
            <a:gdLst/>
            <a:ahLst/>
            <a:cxnLst/>
            <a:rect l="l" t="t" r="r" b="b"/>
            <a:pathLst>
              <a:path w="3517377" h="2207154">
                <a:moveTo>
                  <a:pt x="0" y="0"/>
                </a:moveTo>
                <a:lnTo>
                  <a:pt x="3517378" y="0"/>
                </a:lnTo>
                <a:lnTo>
                  <a:pt x="3517378" y="2207154"/>
                </a:lnTo>
                <a:lnTo>
                  <a:pt x="0" y="22071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477882" y="2941027"/>
            <a:ext cx="537485" cy="537485"/>
          </a:xfrm>
          <a:custGeom>
            <a:avLst/>
            <a:gdLst/>
            <a:ahLst/>
            <a:cxnLst/>
            <a:rect l="l" t="t" r="r" b="b"/>
            <a:pathLst>
              <a:path w="537485" h="537485">
                <a:moveTo>
                  <a:pt x="0" y="0"/>
                </a:moveTo>
                <a:lnTo>
                  <a:pt x="537485" y="0"/>
                </a:lnTo>
                <a:lnTo>
                  <a:pt x="537485" y="537486"/>
                </a:lnTo>
                <a:lnTo>
                  <a:pt x="0" y="5374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873683" y="-736495"/>
            <a:ext cx="2835550" cy="2835550"/>
          </a:xfrm>
          <a:custGeom>
            <a:avLst/>
            <a:gdLst/>
            <a:ahLst/>
            <a:cxnLst/>
            <a:rect l="l" t="t" r="r" b="b"/>
            <a:pathLst>
              <a:path w="2835550" h="2835550">
                <a:moveTo>
                  <a:pt x="0" y="0"/>
                </a:moveTo>
                <a:lnTo>
                  <a:pt x="2835550" y="0"/>
                </a:lnTo>
                <a:lnTo>
                  <a:pt x="2835550" y="2835551"/>
                </a:lnTo>
                <a:lnTo>
                  <a:pt x="0" y="28355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653894" y="4173093"/>
            <a:ext cx="664475" cy="610830"/>
          </a:xfrm>
          <a:custGeom>
            <a:avLst/>
            <a:gdLst/>
            <a:ahLst/>
            <a:cxnLst/>
            <a:rect l="l" t="t" r="r" b="b"/>
            <a:pathLst>
              <a:path w="664475" h="610830">
                <a:moveTo>
                  <a:pt x="0" y="0"/>
                </a:moveTo>
                <a:lnTo>
                  <a:pt x="664475" y="0"/>
                </a:lnTo>
                <a:lnTo>
                  <a:pt x="664475" y="610830"/>
                </a:lnTo>
                <a:lnTo>
                  <a:pt x="0" y="6108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015367" y="4333755"/>
            <a:ext cx="9414952" cy="3075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527"/>
              </a:lnSpc>
            </a:pPr>
            <a:r>
              <a:rPr lang="en-US" sz="15376" b="1" spc="-307" dirty="0">
                <a:solidFill>
                  <a:srgbClr val="181D2B"/>
                </a:solidFill>
                <a:latin typeface="Agrandir Bold"/>
                <a:ea typeface="Agrandir Bold"/>
                <a:cs typeface="Agrandir Bold"/>
                <a:sym typeface="Agrandir Bold"/>
              </a:rPr>
              <a:t>via la PCA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21176" y="990600"/>
            <a:ext cx="6045649" cy="36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15"/>
              </a:lnSpc>
            </a:pPr>
            <a:r>
              <a:rPr lang="en-US" sz="2153" spc="64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FSJES TANGER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361184" y="8436117"/>
            <a:ext cx="2962870" cy="36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015"/>
              </a:lnSpc>
            </a:pPr>
            <a:r>
              <a:rPr lang="en-US" sz="2153" spc="1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Module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361184" y="8796020"/>
            <a:ext cx="2962870" cy="428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71"/>
              </a:lnSpc>
            </a:pPr>
            <a:r>
              <a:rPr lang="en-US" sz="2622" b="1" spc="13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Machine Learning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63430" y="8436117"/>
            <a:ext cx="3817770" cy="36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15"/>
              </a:lnSpc>
            </a:pPr>
            <a:r>
              <a:rPr lang="en-US" sz="2153" spc="1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Étudiante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63430" y="8779510"/>
            <a:ext cx="3817770" cy="428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71"/>
              </a:lnSpc>
            </a:pPr>
            <a:r>
              <a:rPr lang="en-US" sz="2622" b="1" spc="13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Wiam Chentouf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99025" y="2121870"/>
            <a:ext cx="6095650" cy="6095650"/>
          </a:xfrm>
          <a:custGeom>
            <a:avLst/>
            <a:gdLst/>
            <a:ahLst/>
            <a:cxnLst/>
            <a:rect l="l" t="t" r="r" b="b"/>
            <a:pathLst>
              <a:path w="6095650" h="6095650">
                <a:moveTo>
                  <a:pt x="0" y="0"/>
                </a:moveTo>
                <a:lnTo>
                  <a:pt x="6095649" y="0"/>
                </a:lnTo>
                <a:lnTo>
                  <a:pt x="6095649" y="6095650"/>
                </a:lnTo>
                <a:lnTo>
                  <a:pt x="0" y="60956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31923" t="-30783" r="-30783" b="-31923"/>
            </a:stretch>
          </a:blipFill>
          <a:ln cap="rnd">
            <a:noFill/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rot="188292">
            <a:off x="13753723" y="2875617"/>
            <a:ext cx="4166685" cy="4037475"/>
          </a:xfrm>
          <a:custGeom>
            <a:avLst/>
            <a:gdLst/>
            <a:ahLst/>
            <a:cxnLst/>
            <a:rect l="l" t="t" r="r" b="b"/>
            <a:pathLst>
              <a:path w="4253287" h="3796059">
                <a:moveTo>
                  <a:pt x="0" y="0"/>
                </a:moveTo>
                <a:lnTo>
                  <a:pt x="4253287" y="0"/>
                </a:lnTo>
                <a:lnTo>
                  <a:pt x="4253287" y="3796059"/>
                </a:lnTo>
                <a:lnTo>
                  <a:pt x="0" y="37960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86335" y="2669704"/>
            <a:ext cx="11867075" cy="2167257"/>
            <a:chOff x="0" y="0"/>
            <a:chExt cx="3131419" cy="57188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31419" cy="571884"/>
            </a:xfrm>
            <a:custGeom>
              <a:avLst/>
              <a:gdLst/>
              <a:ahLst/>
              <a:cxnLst/>
              <a:rect l="l" t="t" r="r" b="b"/>
              <a:pathLst>
                <a:path w="3131419" h="571884">
                  <a:moveTo>
                    <a:pt x="18919" y="0"/>
                  </a:moveTo>
                  <a:lnTo>
                    <a:pt x="3112500" y="0"/>
                  </a:lnTo>
                  <a:cubicBezTo>
                    <a:pt x="3122948" y="0"/>
                    <a:pt x="3131419" y="8470"/>
                    <a:pt x="3131419" y="18919"/>
                  </a:cubicBezTo>
                  <a:lnTo>
                    <a:pt x="3131419" y="552965"/>
                  </a:lnTo>
                  <a:cubicBezTo>
                    <a:pt x="3131419" y="557982"/>
                    <a:pt x="3129425" y="562794"/>
                    <a:pt x="3125877" y="566342"/>
                  </a:cubicBezTo>
                  <a:cubicBezTo>
                    <a:pt x="3122329" y="569891"/>
                    <a:pt x="3117517" y="571884"/>
                    <a:pt x="3112500" y="571884"/>
                  </a:cubicBezTo>
                  <a:lnTo>
                    <a:pt x="18919" y="571884"/>
                  </a:lnTo>
                  <a:cubicBezTo>
                    <a:pt x="13902" y="571884"/>
                    <a:pt x="9089" y="569891"/>
                    <a:pt x="5541" y="566342"/>
                  </a:cubicBezTo>
                  <a:cubicBezTo>
                    <a:pt x="1993" y="562794"/>
                    <a:pt x="0" y="557982"/>
                    <a:pt x="0" y="552965"/>
                  </a:cubicBezTo>
                  <a:lnTo>
                    <a:pt x="0" y="18919"/>
                  </a:lnTo>
                  <a:cubicBezTo>
                    <a:pt x="0" y="13902"/>
                    <a:pt x="1993" y="9089"/>
                    <a:pt x="5541" y="5541"/>
                  </a:cubicBezTo>
                  <a:cubicBezTo>
                    <a:pt x="9089" y="1993"/>
                    <a:pt x="13902" y="0"/>
                    <a:pt x="18919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131419" cy="609984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192121" y="3063689"/>
            <a:ext cx="11048426" cy="1124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2"/>
              </a:lnSpc>
              <a:spcBef>
                <a:spcPct val="0"/>
              </a:spcBef>
            </a:pPr>
            <a:r>
              <a:rPr lang="en-US" sz="2144" u="none" strike="noStrike" spc="1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Le fléau de la dimensionnalité : chaque image MNIST est représentée par 784 dimensions (28×28 pixels). Cette haute dimension engendre une lourdeur de calcul considérable et ralentit significativement la vitesse d'exécution des algorithmes.</a:t>
            </a:r>
          </a:p>
        </p:txBody>
      </p:sp>
      <p:sp>
        <p:nvSpPr>
          <p:cNvPr id="8" name="Freeform 8"/>
          <p:cNvSpPr/>
          <p:nvPr/>
        </p:nvSpPr>
        <p:spPr>
          <a:xfrm>
            <a:off x="1028700" y="3661953"/>
            <a:ext cx="586747" cy="223355"/>
          </a:xfrm>
          <a:custGeom>
            <a:avLst/>
            <a:gdLst/>
            <a:ahLst/>
            <a:cxnLst/>
            <a:rect l="l" t="t" r="r" b="b"/>
            <a:pathLst>
              <a:path w="586747" h="223355">
                <a:moveTo>
                  <a:pt x="0" y="0"/>
                </a:moveTo>
                <a:lnTo>
                  <a:pt x="586747" y="0"/>
                </a:lnTo>
                <a:lnTo>
                  <a:pt x="586747" y="223356"/>
                </a:lnTo>
                <a:lnTo>
                  <a:pt x="0" y="2233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786335" y="5096134"/>
            <a:ext cx="11867075" cy="2167257"/>
            <a:chOff x="0" y="0"/>
            <a:chExt cx="3131419" cy="5718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31419" cy="571884"/>
            </a:xfrm>
            <a:custGeom>
              <a:avLst/>
              <a:gdLst/>
              <a:ahLst/>
              <a:cxnLst/>
              <a:rect l="l" t="t" r="r" b="b"/>
              <a:pathLst>
                <a:path w="3131419" h="571884">
                  <a:moveTo>
                    <a:pt x="18919" y="0"/>
                  </a:moveTo>
                  <a:lnTo>
                    <a:pt x="3112500" y="0"/>
                  </a:lnTo>
                  <a:cubicBezTo>
                    <a:pt x="3122948" y="0"/>
                    <a:pt x="3131419" y="8470"/>
                    <a:pt x="3131419" y="18919"/>
                  </a:cubicBezTo>
                  <a:lnTo>
                    <a:pt x="3131419" y="552965"/>
                  </a:lnTo>
                  <a:cubicBezTo>
                    <a:pt x="3131419" y="557982"/>
                    <a:pt x="3129425" y="562794"/>
                    <a:pt x="3125877" y="566342"/>
                  </a:cubicBezTo>
                  <a:cubicBezTo>
                    <a:pt x="3122329" y="569891"/>
                    <a:pt x="3117517" y="571884"/>
                    <a:pt x="3112500" y="571884"/>
                  </a:cubicBezTo>
                  <a:lnTo>
                    <a:pt x="18919" y="571884"/>
                  </a:lnTo>
                  <a:cubicBezTo>
                    <a:pt x="13902" y="571884"/>
                    <a:pt x="9089" y="569891"/>
                    <a:pt x="5541" y="566342"/>
                  </a:cubicBezTo>
                  <a:cubicBezTo>
                    <a:pt x="1993" y="562794"/>
                    <a:pt x="0" y="557982"/>
                    <a:pt x="0" y="552965"/>
                  </a:cubicBezTo>
                  <a:lnTo>
                    <a:pt x="0" y="18919"/>
                  </a:lnTo>
                  <a:cubicBezTo>
                    <a:pt x="0" y="13902"/>
                    <a:pt x="1993" y="9089"/>
                    <a:pt x="5541" y="5541"/>
                  </a:cubicBezTo>
                  <a:cubicBezTo>
                    <a:pt x="9089" y="1993"/>
                    <a:pt x="13902" y="0"/>
                    <a:pt x="18919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131419" cy="609984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192121" y="5490120"/>
            <a:ext cx="11048426" cy="1124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2"/>
              </a:lnSpc>
              <a:spcBef>
                <a:spcPct val="0"/>
              </a:spcBef>
            </a:pPr>
            <a:r>
              <a:rPr lang="en-US" sz="2144" u="none" strike="noStrike" spc="10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Forte </a:t>
            </a:r>
            <a:r>
              <a:rPr lang="en-US" sz="2144" u="none" strike="noStrike" spc="10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redondance</a:t>
            </a:r>
            <a:r>
              <a:rPr lang="en-US" sz="2144" u="none" strike="noStrike" spc="10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44" u="none" strike="noStrike" spc="10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spatiale</a:t>
            </a:r>
            <a:r>
              <a:rPr lang="en-US" sz="2144" u="none" strike="noStrike" spc="10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: les pixels noirs </a:t>
            </a:r>
            <a:r>
              <a:rPr lang="en-US" sz="2144" u="none" strike="noStrike" spc="10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en</a:t>
            </a:r>
            <a:r>
              <a:rPr lang="en-US" sz="2144" u="none" strike="noStrike" spc="10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bordure </a:t>
            </a:r>
            <a:r>
              <a:rPr lang="en-US" sz="2144" u="none" strike="noStrike" spc="10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n'apportent</a:t>
            </a:r>
            <a:r>
              <a:rPr lang="en-US" sz="2144" u="none" strike="noStrike" spc="10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44" u="none" strike="noStrike" spc="10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aucune</a:t>
            </a:r>
            <a:r>
              <a:rPr lang="en-US" sz="2144" u="none" strike="noStrike" spc="10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information utile. Cette </a:t>
            </a:r>
            <a:r>
              <a:rPr lang="en-US" sz="2144" u="none" strike="noStrike" spc="10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redondance</a:t>
            </a:r>
            <a:r>
              <a:rPr lang="en-US" sz="2144" u="none" strike="noStrike" spc="10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44" u="none" strike="noStrike" spc="10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dégrade</a:t>
            </a:r>
            <a:r>
              <a:rPr lang="en-US" sz="2144" u="none" strike="noStrike" spc="10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les performances </a:t>
            </a:r>
            <a:r>
              <a:rPr lang="en-US" sz="2144" u="none" strike="noStrike" spc="10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computationnelles</a:t>
            </a:r>
            <a:r>
              <a:rPr lang="en-US" sz="2144" u="none" strike="noStrike" spc="10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et </a:t>
            </a:r>
            <a:r>
              <a:rPr lang="en-US" sz="2144" u="none" strike="noStrike" spc="10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justifie</a:t>
            </a:r>
            <a:r>
              <a:rPr lang="en-US" sz="2144" u="none" strike="noStrike" spc="10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44" u="none" strike="noStrike" spc="10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l'application</a:t>
            </a:r>
            <a:r>
              <a:rPr lang="en-US" sz="2144" u="none" strike="noStrike" spc="10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44" u="none" strike="noStrike" spc="10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d'une</a:t>
            </a:r>
            <a:r>
              <a:rPr lang="en-US" sz="2144" u="none" strike="noStrike" spc="10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44" u="none" strike="noStrike" spc="10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réduction</a:t>
            </a:r>
            <a:r>
              <a:rPr lang="en-US" sz="2144" u="none" strike="noStrike" spc="10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144" u="none" strike="noStrike" spc="10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dimensionnalité</a:t>
            </a:r>
            <a:r>
              <a:rPr lang="en-US" sz="2144" u="none" strike="noStrike" spc="10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via la PCA.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28700" y="6088384"/>
            <a:ext cx="586747" cy="223355"/>
          </a:xfrm>
          <a:custGeom>
            <a:avLst/>
            <a:gdLst/>
            <a:ahLst/>
            <a:cxnLst/>
            <a:rect l="l" t="t" r="r" b="b"/>
            <a:pathLst>
              <a:path w="586747" h="223355">
                <a:moveTo>
                  <a:pt x="0" y="0"/>
                </a:moveTo>
                <a:lnTo>
                  <a:pt x="586747" y="0"/>
                </a:lnTo>
                <a:lnTo>
                  <a:pt x="586747" y="223355"/>
                </a:lnTo>
                <a:lnTo>
                  <a:pt x="0" y="2233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8700" y="600075"/>
            <a:ext cx="12270325" cy="1767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311"/>
              </a:lnSpc>
              <a:spcBef>
                <a:spcPct val="0"/>
              </a:spcBef>
            </a:pPr>
            <a:r>
              <a:rPr lang="en-US" sz="8793" b="1" u="none" strike="noStrike">
                <a:solidFill>
                  <a:srgbClr val="2B598F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Problématique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2150717" y="2645110"/>
            <a:ext cx="9343257" cy="8578808"/>
          </a:xfrm>
          <a:custGeom>
            <a:avLst/>
            <a:gdLst/>
            <a:ahLst/>
            <a:cxnLst/>
            <a:rect l="l" t="t" r="r" b="b"/>
            <a:pathLst>
              <a:path w="9343257" h="8578808">
                <a:moveTo>
                  <a:pt x="0" y="0"/>
                </a:moveTo>
                <a:lnTo>
                  <a:pt x="9343257" y="0"/>
                </a:lnTo>
                <a:lnTo>
                  <a:pt x="9343257" y="8578808"/>
                </a:lnTo>
                <a:lnTo>
                  <a:pt x="0" y="8578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5772013" y="3914475"/>
            <a:ext cx="10249037" cy="2458051"/>
            <a:chOff x="0" y="0"/>
            <a:chExt cx="2704460" cy="6486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4460" cy="648617"/>
            </a:xfrm>
            <a:custGeom>
              <a:avLst/>
              <a:gdLst/>
              <a:ahLst/>
              <a:cxnLst/>
              <a:rect l="l" t="t" r="r" b="b"/>
              <a:pathLst>
                <a:path w="2704460" h="648617">
                  <a:moveTo>
                    <a:pt x="21906" y="0"/>
                  </a:moveTo>
                  <a:lnTo>
                    <a:pt x="2682554" y="0"/>
                  </a:lnTo>
                  <a:cubicBezTo>
                    <a:pt x="2694652" y="0"/>
                    <a:pt x="2704460" y="9808"/>
                    <a:pt x="2704460" y="21906"/>
                  </a:cubicBezTo>
                  <a:lnTo>
                    <a:pt x="2704460" y="626711"/>
                  </a:lnTo>
                  <a:cubicBezTo>
                    <a:pt x="2704460" y="632521"/>
                    <a:pt x="2702152" y="638093"/>
                    <a:pt x="2698043" y="642201"/>
                  </a:cubicBezTo>
                  <a:cubicBezTo>
                    <a:pt x="2693935" y="646309"/>
                    <a:pt x="2688363" y="648617"/>
                    <a:pt x="2682554" y="648617"/>
                  </a:cubicBezTo>
                  <a:lnTo>
                    <a:pt x="21906" y="648617"/>
                  </a:lnTo>
                  <a:cubicBezTo>
                    <a:pt x="16096" y="648617"/>
                    <a:pt x="10524" y="646309"/>
                    <a:pt x="6416" y="642201"/>
                  </a:cubicBezTo>
                  <a:cubicBezTo>
                    <a:pt x="2308" y="638093"/>
                    <a:pt x="0" y="632521"/>
                    <a:pt x="0" y="626711"/>
                  </a:cubicBezTo>
                  <a:lnTo>
                    <a:pt x="0" y="21906"/>
                  </a:lnTo>
                  <a:cubicBezTo>
                    <a:pt x="0" y="16096"/>
                    <a:pt x="2308" y="10524"/>
                    <a:pt x="6416" y="6416"/>
                  </a:cubicBezTo>
                  <a:cubicBezTo>
                    <a:pt x="10524" y="2308"/>
                    <a:pt x="16096" y="0"/>
                    <a:pt x="21906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04460" cy="686717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120067" y="4160012"/>
            <a:ext cx="9710250" cy="414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24"/>
              </a:lnSpc>
              <a:spcBef>
                <a:spcPct val="0"/>
              </a:spcBef>
            </a:pPr>
            <a:r>
              <a:rPr lang="en-US" sz="2446" b="1" u="none" strike="noStrike" spc="12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Moyenne Empirique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20067" y="4747596"/>
            <a:ext cx="9710250" cy="1354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5"/>
              </a:lnSpc>
              <a:spcBef>
                <a:spcPct val="0"/>
              </a:spcBef>
            </a:pP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Formule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00" b="1" u="none" strike="noStrike" spc="9" dirty="0">
                <a:solidFill>
                  <a:schemeClr val="accent1">
                    <a:lumMod val="75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: μ = (1/n) ∑ xᵢ</a:t>
            </a:r>
            <a:endParaRPr lang="en-US" sz="1904" b="1" u="none" strike="noStrike" spc="9" dirty="0">
              <a:solidFill>
                <a:schemeClr val="accent1">
                  <a:lumMod val="75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0" lvl="0" indent="0" algn="l">
              <a:lnSpc>
                <a:spcPts val="2665"/>
              </a:lnSpc>
              <a:spcBef>
                <a:spcPct val="0"/>
              </a:spcBef>
            </a:pP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Chaque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variable est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centrée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en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soustrayant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sa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moyenne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. Le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centrage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aligne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le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centre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gravité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des données sur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l'origine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, condition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essentielle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avant toute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décomposition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PCA.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819530" y="6839500"/>
            <a:ext cx="10249037" cy="2458051"/>
            <a:chOff x="0" y="0"/>
            <a:chExt cx="2704460" cy="64861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04460" cy="648617"/>
            </a:xfrm>
            <a:custGeom>
              <a:avLst/>
              <a:gdLst/>
              <a:ahLst/>
              <a:cxnLst/>
              <a:rect l="l" t="t" r="r" b="b"/>
              <a:pathLst>
                <a:path w="2704460" h="648617">
                  <a:moveTo>
                    <a:pt x="21906" y="0"/>
                  </a:moveTo>
                  <a:lnTo>
                    <a:pt x="2682554" y="0"/>
                  </a:lnTo>
                  <a:cubicBezTo>
                    <a:pt x="2694652" y="0"/>
                    <a:pt x="2704460" y="9808"/>
                    <a:pt x="2704460" y="21906"/>
                  </a:cubicBezTo>
                  <a:lnTo>
                    <a:pt x="2704460" y="626711"/>
                  </a:lnTo>
                  <a:cubicBezTo>
                    <a:pt x="2704460" y="632521"/>
                    <a:pt x="2702152" y="638093"/>
                    <a:pt x="2698043" y="642201"/>
                  </a:cubicBezTo>
                  <a:cubicBezTo>
                    <a:pt x="2693935" y="646309"/>
                    <a:pt x="2688363" y="648617"/>
                    <a:pt x="2682554" y="648617"/>
                  </a:cubicBezTo>
                  <a:lnTo>
                    <a:pt x="21906" y="648617"/>
                  </a:lnTo>
                  <a:cubicBezTo>
                    <a:pt x="16096" y="648617"/>
                    <a:pt x="10524" y="646309"/>
                    <a:pt x="6416" y="642201"/>
                  </a:cubicBezTo>
                  <a:cubicBezTo>
                    <a:pt x="2308" y="638093"/>
                    <a:pt x="0" y="632521"/>
                    <a:pt x="0" y="626711"/>
                  </a:cubicBezTo>
                  <a:lnTo>
                    <a:pt x="0" y="21906"/>
                  </a:lnTo>
                  <a:cubicBezTo>
                    <a:pt x="0" y="16096"/>
                    <a:pt x="2308" y="10524"/>
                    <a:pt x="6416" y="6416"/>
                  </a:cubicBezTo>
                  <a:cubicBezTo>
                    <a:pt x="10524" y="2308"/>
                    <a:pt x="16096" y="0"/>
                    <a:pt x="21906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704460" cy="686717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358317" y="7045786"/>
            <a:ext cx="9710250" cy="414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24"/>
              </a:lnSpc>
              <a:spcBef>
                <a:spcPct val="0"/>
              </a:spcBef>
            </a:pPr>
            <a:r>
              <a:rPr lang="en-US" sz="2446" b="1" spc="12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Matrice Centrée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58317" y="7633371"/>
            <a:ext cx="9710250" cy="1354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5"/>
              </a:lnSpc>
              <a:spcBef>
                <a:spcPct val="0"/>
              </a:spcBef>
            </a:pP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Formule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00" b="1" u="none" strike="noStrike" spc="9" dirty="0">
                <a:solidFill>
                  <a:schemeClr val="accent1">
                    <a:lumMod val="75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: </a:t>
            </a:r>
            <a:r>
              <a:rPr lang="en-US" sz="3200" b="1" u="none" strike="noStrike" spc="9" dirty="0" err="1">
                <a:solidFill>
                  <a:schemeClr val="accent1">
                    <a:lumMod val="75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X_centré</a:t>
            </a:r>
            <a:r>
              <a:rPr lang="en-US" sz="3200" b="1" u="none" strike="noStrike" spc="9" dirty="0">
                <a:solidFill>
                  <a:schemeClr val="accent1">
                    <a:lumMod val="75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= X − μ</a:t>
            </a:r>
          </a:p>
          <a:p>
            <a:pPr marL="0" lvl="0" indent="0" algn="l">
              <a:lnSpc>
                <a:spcPts val="2665"/>
              </a:lnSpc>
              <a:spcBef>
                <a:spcPct val="0"/>
              </a:spcBef>
            </a:pP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La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matrice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centrée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garantit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que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les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composantes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principales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capturent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la variance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réelle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des données et non un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biais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lié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à la position du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nuage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de points dans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l'espace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id="13" name="Freeform 13"/>
          <p:cNvSpPr/>
          <p:nvPr/>
        </p:nvSpPr>
        <p:spPr>
          <a:xfrm>
            <a:off x="457200" y="3696011"/>
            <a:ext cx="4763429" cy="2381715"/>
          </a:xfrm>
          <a:custGeom>
            <a:avLst/>
            <a:gdLst/>
            <a:ahLst/>
            <a:cxnLst/>
            <a:rect l="l" t="t" r="r" b="b"/>
            <a:pathLst>
              <a:path w="4763429" h="2381715">
                <a:moveTo>
                  <a:pt x="0" y="0"/>
                </a:moveTo>
                <a:lnTo>
                  <a:pt x="4763429" y="0"/>
                </a:lnTo>
                <a:lnTo>
                  <a:pt x="4763429" y="2381714"/>
                </a:lnTo>
                <a:lnTo>
                  <a:pt x="0" y="23817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4076952" y="7048612"/>
            <a:ext cx="2030056" cy="2058706"/>
          </a:xfrm>
          <a:custGeom>
            <a:avLst/>
            <a:gdLst/>
            <a:ahLst/>
            <a:cxnLst/>
            <a:rect l="l" t="t" r="r" b="b"/>
            <a:pathLst>
              <a:path w="2030056" h="2058706">
                <a:moveTo>
                  <a:pt x="0" y="0"/>
                </a:moveTo>
                <a:lnTo>
                  <a:pt x="2030056" y="0"/>
                </a:lnTo>
                <a:lnTo>
                  <a:pt x="2030056" y="2058706"/>
                </a:lnTo>
                <a:lnTo>
                  <a:pt x="0" y="20587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TextBox 15"/>
          <p:cNvSpPr txBox="1"/>
          <p:nvPr/>
        </p:nvSpPr>
        <p:spPr>
          <a:xfrm>
            <a:off x="1028700" y="1737696"/>
            <a:ext cx="8913197" cy="96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0"/>
              </a:lnSpc>
              <a:spcBef>
                <a:spcPct val="0"/>
              </a:spcBef>
            </a:pPr>
            <a:r>
              <a:rPr lang="en-US" sz="4786" b="1" u="none" strike="noStrike">
                <a:solidFill>
                  <a:srgbClr val="2B598F"/>
                </a:solidFill>
                <a:latin typeface="Agrandir Bold"/>
                <a:ea typeface="Agrandir Bold"/>
                <a:cs typeface="Agrandir Bold"/>
                <a:sym typeface="Agrandir Bold"/>
              </a:rPr>
              <a:t>Fondements Mathématiques I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2150717" y="2645110"/>
            <a:ext cx="9343257" cy="8578808"/>
          </a:xfrm>
          <a:custGeom>
            <a:avLst/>
            <a:gdLst/>
            <a:ahLst/>
            <a:cxnLst/>
            <a:rect l="l" t="t" r="r" b="b"/>
            <a:pathLst>
              <a:path w="9343257" h="8578808">
                <a:moveTo>
                  <a:pt x="0" y="0"/>
                </a:moveTo>
                <a:lnTo>
                  <a:pt x="9343257" y="0"/>
                </a:lnTo>
                <a:lnTo>
                  <a:pt x="9343257" y="8578808"/>
                </a:lnTo>
                <a:lnTo>
                  <a:pt x="0" y="8578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5772013" y="3914475"/>
            <a:ext cx="10249037" cy="2458051"/>
            <a:chOff x="0" y="0"/>
            <a:chExt cx="2704460" cy="6486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4460" cy="648617"/>
            </a:xfrm>
            <a:custGeom>
              <a:avLst/>
              <a:gdLst/>
              <a:ahLst/>
              <a:cxnLst/>
              <a:rect l="l" t="t" r="r" b="b"/>
              <a:pathLst>
                <a:path w="2704460" h="648617">
                  <a:moveTo>
                    <a:pt x="21906" y="0"/>
                  </a:moveTo>
                  <a:lnTo>
                    <a:pt x="2682554" y="0"/>
                  </a:lnTo>
                  <a:cubicBezTo>
                    <a:pt x="2694652" y="0"/>
                    <a:pt x="2704460" y="9808"/>
                    <a:pt x="2704460" y="21906"/>
                  </a:cubicBezTo>
                  <a:lnTo>
                    <a:pt x="2704460" y="626711"/>
                  </a:lnTo>
                  <a:cubicBezTo>
                    <a:pt x="2704460" y="632521"/>
                    <a:pt x="2702152" y="638093"/>
                    <a:pt x="2698043" y="642201"/>
                  </a:cubicBezTo>
                  <a:cubicBezTo>
                    <a:pt x="2693935" y="646309"/>
                    <a:pt x="2688363" y="648617"/>
                    <a:pt x="2682554" y="648617"/>
                  </a:cubicBezTo>
                  <a:lnTo>
                    <a:pt x="21906" y="648617"/>
                  </a:lnTo>
                  <a:cubicBezTo>
                    <a:pt x="16096" y="648617"/>
                    <a:pt x="10524" y="646309"/>
                    <a:pt x="6416" y="642201"/>
                  </a:cubicBezTo>
                  <a:cubicBezTo>
                    <a:pt x="2308" y="638093"/>
                    <a:pt x="0" y="632521"/>
                    <a:pt x="0" y="626711"/>
                  </a:cubicBezTo>
                  <a:lnTo>
                    <a:pt x="0" y="21906"/>
                  </a:lnTo>
                  <a:cubicBezTo>
                    <a:pt x="0" y="16096"/>
                    <a:pt x="2308" y="10524"/>
                    <a:pt x="6416" y="6416"/>
                  </a:cubicBezTo>
                  <a:cubicBezTo>
                    <a:pt x="10524" y="2308"/>
                    <a:pt x="16096" y="0"/>
                    <a:pt x="21906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04460" cy="686717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120067" y="4140962"/>
            <a:ext cx="9710250" cy="490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7"/>
              </a:lnSpc>
              <a:spcBef>
                <a:spcPct val="0"/>
              </a:spcBef>
            </a:pPr>
            <a:r>
              <a:rPr lang="en-US" sz="2798" b="1" u="none" strike="noStrike" spc="13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Matrice de Covariance Σ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20067" y="4747596"/>
            <a:ext cx="9710250" cy="1354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5"/>
              </a:lnSpc>
              <a:spcBef>
                <a:spcPct val="0"/>
              </a:spcBef>
            </a:pP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Formule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: </a:t>
            </a:r>
            <a:r>
              <a:rPr lang="en-US" sz="3200" b="1" u="none" strike="noStrike" spc="9" dirty="0">
                <a:solidFill>
                  <a:schemeClr val="accent1">
                    <a:lumMod val="75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Σ = (1/n) · </a:t>
            </a:r>
            <a:r>
              <a:rPr lang="en-US" sz="3200" b="1" u="none" strike="noStrike" spc="9" dirty="0" err="1">
                <a:solidFill>
                  <a:schemeClr val="accent1">
                    <a:lumMod val="75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X_centré^T</a:t>
            </a:r>
            <a:r>
              <a:rPr lang="en-US" sz="3200" b="1" u="none" strike="noStrike" spc="9" dirty="0">
                <a:solidFill>
                  <a:schemeClr val="accent1">
                    <a:lumMod val="75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· </a:t>
            </a:r>
            <a:r>
              <a:rPr lang="en-US" sz="3200" b="1" u="none" strike="noStrike" spc="9" dirty="0" err="1">
                <a:solidFill>
                  <a:schemeClr val="accent1">
                    <a:lumMod val="75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X_centré</a:t>
            </a:r>
            <a:endParaRPr lang="en-US" sz="1904" b="1" u="none" strike="noStrike" spc="9" dirty="0">
              <a:solidFill>
                <a:schemeClr val="accent1">
                  <a:lumMod val="75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0" lvl="0" indent="0" algn="l">
              <a:lnSpc>
                <a:spcPts val="2665"/>
              </a:lnSpc>
              <a:spcBef>
                <a:spcPct val="0"/>
              </a:spcBef>
            </a:pP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Dimension : 784 × 784 (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une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entrée par pixel)</a:t>
            </a:r>
          </a:p>
          <a:p>
            <a:pPr marL="0" lvl="0" indent="0" algn="l">
              <a:lnSpc>
                <a:spcPts val="2665"/>
              </a:lnSpc>
              <a:spcBef>
                <a:spcPct val="0"/>
              </a:spcBef>
            </a:pP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La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diagonale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contient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les variances de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chaque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pixel.</a:t>
            </a:r>
          </a:p>
          <a:p>
            <a:pPr marL="0" lvl="0" indent="0" algn="l">
              <a:lnSpc>
                <a:spcPts val="2665"/>
              </a:lnSpc>
              <a:spcBef>
                <a:spcPct val="0"/>
              </a:spcBef>
            </a:pP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Interprétation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: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mesure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la dispersion et les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corrélations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entre pixels.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010263" y="6800249"/>
            <a:ext cx="10249037" cy="2458051"/>
            <a:chOff x="0" y="0"/>
            <a:chExt cx="2704460" cy="64861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04460" cy="648617"/>
            </a:xfrm>
            <a:custGeom>
              <a:avLst/>
              <a:gdLst/>
              <a:ahLst/>
              <a:cxnLst/>
              <a:rect l="l" t="t" r="r" b="b"/>
              <a:pathLst>
                <a:path w="2704460" h="648617">
                  <a:moveTo>
                    <a:pt x="21906" y="0"/>
                  </a:moveTo>
                  <a:lnTo>
                    <a:pt x="2682554" y="0"/>
                  </a:lnTo>
                  <a:cubicBezTo>
                    <a:pt x="2694652" y="0"/>
                    <a:pt x="2704460" y="9808"/>
                    <a:pt x="2704460" y="21906"/>
                  </a:cubicBezTo>
                  <a:lnTo>
                    <a:pt x="2704460" y="626711"/>
                  </a:lnTo>
                  <a:cubicBezTo>
                    <a:pt x="2704460" y="632521"/>
                    <a:pt x="2702152" y="638093"/>
                    <a:pt x="2698043" y="642201"/>
                  </a:cubicBezTo>
                  <a:cubicBezTo>
                    <a:pt x="2693935" y="646309"/>
                    <a:pt x="2688363" y="648617"/>
                    <a:pt x="2682554" y="648617"/>
                  </a:cubicBezTo>
                  <a:lnTo>
                    <a:pt x="21906" y="648617"/>
                  </a:lnTo>
                  <a:cubicBezTo>
                    <a:pt x="16096" y="648617"/>
                    <a:pt x="10524" y="646309"/>
                    <a:pt x="6416" y="642201"/>
                  </a:cubicBezTo>
                  <a:cubicBezTo>
                    <a:pt x="2308" y="638093"/>
                    <a:pt x="0" y="632521"/>
                    <a:pt x="0" y="626711"/>
                  </a:cubicBezTo>
                  <a:lnTo>
                    <a:pt x="0" y="21906"/>
                  </a:lnTo>
                  <a:cubicBezTo>
                    <a:pt x="0" y="16096"/>
                    <a:pt x="2308" y="10524"/>
                    <a:pt x="6416" y="6416"/>
                  </a:cubicBezTo>
                  <a:cubicBezTo>
                    <a:pt x="10524" y="2308"/>
                    <a:pt x="16096" y="0"/>
                    <a:pt x="21906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704460" cy="686717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358317" y="7026736"/>
            <a:ext cx="9710250" cy="490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7"/>
              </a:lnSpc>
              <a:spcBef>
                <a:spcPct val="0"/>
              </a:spcBef>
            </a:pPr>
            <a:r>
              <a:rPr lang="en-US" sz="2798" b="1" spc="13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Propriétés Algébriques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58317" y="7633371"/>
            <a:ext cx="9710250" cy="1354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5"/>
              </a:lnSpc>
              <a:spcBef>
                <a:spcPct val="0"/>
              </a:spcBef>
            </a:pP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Symétrie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4800" b="1" u="none" strike="noStrike" spc="9" dirty="0">
                <a:solidFill>
                  <a:schemeClr val="accent1">
                    <a:lumMod val="75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: </a:t>
            </a:r>
            <a:r>
              <a:rPr lang="en-US" sz="4000" b="1" u="none" strike="noStrike" spc="9" dirty="0">
                <a:solidFill>
                  <a:schemeClr val="accent1">
                    <a:lumMod val="75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Σ = Σ^T</a:t>
            </a:r>
            <a:r>
              <a:rPr lang="en-US" sz="1600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(la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matrice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est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symétrique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par construction).</a:t>
            </a:r>
          </a:p>
          <a:p>
            <a:pPr marL="0" lvl="0" indent="0" algn="l">
              <a:lnSpc>
                <a:spcPts val="2665"/>
              </a:lnSpc>
              <a:spcBef>
                <a:spcPct val="0"/>
              </a:spcBef>
            </a:pP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Semi-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définie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positive :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toutes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les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valeurs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propres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λ ≥ 0.</a:t>
            </a:r>
          </a:p>
          <a:p>
            <a:pPr marL="0" lvl="0" indent="0" algn="l">
              <a:lnSpc>
                <a:spcPts val="2665"/>
              </a:lnSpc>
              <a:spcBef>
                <a:spcPct val="0"/>
              </a:spcBef>
            </a:pP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Base pour la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décomposition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spectrale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(SVD / eigen-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décomposition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).</a:t>
            </a:r>
          </a:p>
          <a:p>
            <a:pPr marL="0" lvl="0" indent="0" algn="l">
              <a:lnSpc>
                <a:spcPts val="2665"/>
              </a:lnSpc>
              <a:spcBef>
                <a:spcPct val="0"/>
              </a:spcBef>
            </a:pP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Essentielle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pour identifier les axes de variance </a:t>
            </a:r>
            <a:r>
              <a:rPr lang="en-US" sz="1904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maximale</a:t>
            </a:r>
            <a:r>
              <a:rPr lang="en-US" sz="1904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id="13" name="Freeform 13"/>
          <p:cNvSpPr/>
          <p:nvPr/>
        </p:nvSpPr>
        <p:spPr>
          <a:xfrm>
            <a:off x="1688133" y="3612888"/>
            <a:ext cx="3184151" cy="2992334"/>
          </a:xfrm>
          <a:custGeom>
            <a:avLst/>
            <a:gdLst/>
            <a:ahLst/>
            <a:cxnLst/>
            <a:rect l="l" t="t" r="r" b="b"/>
            <a:pathLst>
              <a:path w="3184151" h="2992334">
                <a:moveTo>
                  <a:pt x="0" y="0"/>
                </a:moveTo>
                <a:lnTo>
                  <a:pt x="3184151" y="0"/>
                </a:lnTo>
                <a:lnTo>
                  <a:pt x="3184151" y="2992334"/>
                </a:lnTo>
                <a:lnTo>
                  <a:pt x="0" y="29923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3824039" y="6734771"/>
            <a:ext cx="2537634" cy="2686906"/>
          </a:xfrm>
          <a:custGeom>
            <a:avLst/>
            <a:gdLst/>
            <a:ahLst/>
            <a:cxnLst/>
            <a:rect l="l" t="t" r="r" b="b"/>
            <a:pathLst>
              <a:path w="2537634" h="2686906">
                <a:moveTo>
                  <a:pt x="0" y="0"/>
                </a:moveTo>
                <a:lnTo>
                  <a:pt x="2537634" y="0"/>
                </a:lnTo>
                <a:lnTo>
                  <a:pt x="2537634" y="2686906"/>
                </a:lnTo>
                <a:lnTo>
                  <a:pt x="0" y="2686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TextBox 15"/>
          <p:cNvSpPr txBox="1"/>
          <p:nvPr/>
        </p:nvSpPr>
        <p:spPr>
          <a:xfrm>
            <a:off x="1028700" y="1747221"/>
            <a:ext cx="8913197" cy="946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36"/>
              </a:lnSpc>
              <a:spcBef>
                <a:spcPct val="0"/>
              </a:spcBef>
            </a:pPr>
            <a:r>
              <a:rPr lang="en-US" sz="4740" b="1" u="none" strike="noStrike">
                <a:solidFill>
                  <a:srgbClr val="2B598F"/>
                </a:solidFill>
                <a:latin typeface="Agrandir Bold"/>
                <a:ea typeface="Agrandir Bold"/>
                <a:cs typeface="Agrandir Bold"/>
                <a:sym typeface="Agrandir Bold"/>
              </a:rPr>
              <a:t>Fondements Mathématiques II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0279" y="2121870"/>
            <a:ext cx="6095650" cy="6095650"/>
          </a:xfrm>
          <a:custGeom>
            <a:avLst/>
            <a:gdLst/>
            <a:ahLst/>
            <a:cxnLst/>
            <a:rect l="l" t="t" r="r" b="b"/>
            <a:pathLst>
              <a:path w="6095650" h="6095650">
                <a:moveTo>
                  <a:pt x="0" y="0"/>
                </a:moveTo>
                <a:lnTo>
                  <a:pt x="6095650" y="0"/>
                </a:lnTo>
                <a:lnTo>
                  <a:pt x="6095650" y="6095650"/>
                </a:lnTo>
                <a:lnTo>
                  <a:pt x="0" y="60956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31923" t="-30783" r="-30783" b="-31923"/>
            </a:stretch>
          </a:blipFill>
          <a:ln cap="rnd">
            <a:noFill/>
            <a:prstDash val="solid"/>
            <a:round/>
          </a:ln>
        </p:spPr>
      </p:sp>
      <p:sp>
        <p:nvSpPr>
          <p:cNvPr id="3" name="TextBox 3"/>
          <p:cNvSpPr txBox="1"/>
          <p:nvPr/>
        </p:nvSpPr>
        <p:spPr>
          <a:xfrm>
            <a:off x="2879338" y="723900"/>
            <a:ext cx="12529324" cy="1267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93"/>
              </a:lnSpc>
              <a:spcBef>
                <a:spcPct val="0"/>
              </a:spcBef>
            </a:pPr>
            <a:r>
              <a:rPr lang="en-US" sz="6352" b="1" u="none" strike="noStrike">
                <a:solidFill>
                  <a:srgbClr val="2B598F"/>
                </a:solidFill>
                <a:latin typeface="Agrandir Bold"/>
                <a:ea typeface="Agrandir Bold"/>
                <a:cs typeface="Agrandir Bold"/>
                <a:sym typeface="Agrandir Bold"/>
              </a:rPr>
              <a:t>Décomposition Spectrale / SVD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900989" y="2643550"/>
            <a:ext cx="10863414" cy="2167257"/>
            <a:chOff x="0" y="0"/>
            <a:chExt cx="2866578" cy="57188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6578" cy="571884"/>
            </a:xfrm>
            <a:custGeom>
              <a:avLst/>
              <a:gdLst/>
              <a:ahLst/>
              <a:cxnLst/>
              <a:rect l="l" t="t" r="r" b="b"/>
              <a:pathLst>
                <a:path w="2866578" h="571884">
                  <a:moveTo>
                    <a:pt x="20667" y="0"/>
                  </a:moveTo>
                  <a:lnTo>
                    <a:pt x="2845911" y="0"/>
                  </a:lnTo>
                  <a:cubicBezTo>
                    <a:pt x="2857325" y="0"/>
                    <a:pt x="2866578" y="9253"/>
                    <a:pt x="2866578" y="20667"/>
                  </a:cubicBezTo>
                  <a:lnTo>
                    <a:pt x="2866578" y="551217"/>
                  </a:lnTo>
                  <a:cubicBezTo>
                    <a:pt x="2866578" y="556698"/>
                    <a:pt x="2864401" y="561955"/>
                    <a:pt x="2860525" y="565831"/>
                  </a:cubicBezTo>
                  <a:cubicBezTo>
                    <a:pt x="2856649" y="569706"/>
                    <a:pt x="2851392" y="571884"/>
                    <a:pt x="2845911" y="571884"/>
                  </a:cubicBezTo>
                  <a:lnTo>
                    <a:pt x="20667" y="571884"/>
                  </a:lnTo>
                  <a:cubicBezTo>
                    <a:pt x="15186" y="571884"/>
                    <a:pt x="9929" y="569706"/>
                    <a:pt x="6053" y="565831"/>
                  </a:cubicBezTo>
                  <a:cubicBezTo>
                    <a:pt x="2177" y="561955"/>
                    <a:pt x="0" y="556698"/>
                    <a:pt x="0" y="551217"/>
                  </a:cubicBezTo>
                  <a:lnTo>
                    <a:pt x="0" y="20667"/>
                  </a:lnTo>
                  <a:cubicBezTo>
                    <a:pt x="0" y="15186"/>
                    <a:pt x="2177" y="9929"/>
                    <a:pt x="6053" y="6053"/>
                  </a:cubicBezTo>
                  <a:cubicBezTo>
                    <a:pt x="9929" y="2177"/>
                    <a:pt x="15186" y="0"/>
                    <a:pt x="20667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866578" cy="609984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425537" y="3028011"/>
            <a:ext cx="9523548" cy="1350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0"/>
              </a:lnSpc>
              <a:spcBef>
                <a:spcPct val="0"/>
              </a:spcBef>
            </a:pPr>
            <a:r>
              <a:rPr lang="en-US" sz="2593" u="none" strike="noStrike" spc="12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Équation</a:t>
            </a:r>
            <a:r>
              <a:rPr lang="en-US" sz="2593" u="none" strike="noStrike" spc="12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aux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valeurs</a:t>
            </a:r>
            <a:r>
              <a:rPr lang="en-US" sz="2593" u="none" strike="noStrike" spc="12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propres</a:t>
            </a:r>
            <a:r>
              <a:rPr lang="en-US" sz="2593" u="none" strike="noStrike" spc="12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600" b="1" u="none" strike="noStrike" spc="12" dirty="0">
                <a:solidFill>
                  <a:schemeClr val="accent1">
                    <a:lumMod val="75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: Σ · v = λ · v</a:t>
            </a:r>
          </a:p>
          <a:p>
            <a:pPr marL="0" lvl="0" indent="0" algn="l">
              <a:lnSpc>
                <a:spcPts val="3630"/>
              </a:lnSpc>
              <a:spcBef>
                <a:spcPct val="0"/>
              </a:spcBef>
            </a:pPr>
            <a:r>
              <a:rPr lang="en-US" sz="2593" u="none" strike="noStrike" spc="12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Tri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décroissant</a:t>
            </a:r>
            <a:r>
              <a:rPr lang="en-US" sz="2593" u="none" strike="noStrike" spc="12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: λ₁ ≥ λ₂ ≥ ... ≥ λ₇₈₄</a:t>
            </a:r>
          </a:p>
          <a:p>
            <a:pPr marL="0" lvl="0" indent="0" algn="l">
              <a:lnSpc>
                <a:spcPts val="3630"/>
              </a:lnSpc>
              <a:spcBef>
                <a:spcPct val="0"/>
              </a:spcBef>
            </a:pPr>
            <a:r>
              <a:rPr lang="en-US" sz="2593" u="none" strike="noStrike" spc="12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Sélection</a:t>
            </a:r>
            <a:r>
              <a:rPr lang="en-US" sz="2593" u="none" strike="noStrike" spc="12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des k = 50 premières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composantes</a:t>
            </a:r>
            <a:r>
              <a:rPr lang="en-US" sz="2593" u="none" strike="noStrike" spc="12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principales</a:t>
            </a:r>
            <a:r>
              <a:rPr lang="en-US" sz="2593" u="none" strike="noStrike" spc="12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id="8" name="Freeform 8"/>
          <p:cNvSpPr/>
          <p:nvPr/>
        </p:nvSpPr>
        <p:spPr>
          <a:xfrm>
            <a:off x="4998624" y="3615501"/>
            <a:ext cx="586747" cy="223355"/>
          </a:xfrm>
          <a:custGeom>
            <a:avLst/>
            <a:gdLst/>
            <a:ahLst/>
            <a:cxnLst/>
            <a:rect l="l" t="t" r="r" b="b"/>
            <a:pathLst>
              <a:path w="586747" h="223355">
                <a:moveTo>
                  <a:pt x="0" y="0"/>
                </a:moveTo>
                <a:lnTo>
                  <a:pt x="586747" y="0"/>
                </a:lnTo>
                <a:lnTo>
                  <a:pt x="586747" y="223355"/>
                </a:lnTo>
                <a:lnTo>
                  <a:pt x="0" y="2233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778912" y="2949079"/>
            <a:ext cx="5735129" cy="3978745"/>
          </a:xfrm>
          <a:custGeom>
            <a:avLst/>
            <a:gdLst/>
            <a:ahLst/>
            <a:cxnLst/>
            <a:rect l="l" t="t" r="r" b="b"/>
            <a:pathLst>
              <a:path w="5735129" h="3978745">
                <a:moveTo>
                  <a:pt x="0" y="0"/>
                </a:moveTo>
                <a:lnTo>
                  <a:pt x="5735129" y="0"/>
                </a:lnTo>
                <a:lnTo>
                  <a:pt x="5735129" y="3978746"/>
                </a:lnTo>
                <a:lnTo>
                  <a:pt x="0" y="39787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grpSp>
        <p:nvGrpSpPr>
          <p:cNvPr id="10" name="Group 10"/>
          <p:cNvGrpSpPr/>
          <p:nvPr/>
        </p:nvGrpSpPr>
        <p:grpSpPr>
          <a:xfrm>
            <a:off x="5900989" y="5072908"/>
            <a:ext cx="10863414" cy="2167257"/>
            <a:chOff x="0" y="0"/>
            <a:chExt cx="2866578" cy="5718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66578" cy="571884"/>
            </a:xfrm>
            <a:custGeom>
              <a:avLst/>
              <a:gdLst/>
              <a:ahLst/>
              <a:cxnLst/>
              <a:rect l="l" t="t" r="r" b="b"/>
              <a:pathLst>
                <a:path w="2866578" h="571884">
                  <a:moveTo>
                    <a:pt x="20667" y="0"/>
                  </a:moveTo>
                  <a:lnTo>
                    <a:pt x="2845911" y="0"/>
                  </a:lnTo>
                  <a:cubicBezTo>
                    <a:pt x="2857325" y="0"/>
                    <a:pt x="2866578" y="9253"/>
                    <a:pt x="2866578" y="20667"/>
                  </a:cubicBezTo>
                  <a:lnTo>
                    <a:pt x="2866578" y="551217"/>
                  </a:lnTo>
                  <a:cubicBezTo>
                    <a:pt x="2866578" y="556698"/>
                    <a:pt x="2864401" y="561955"/>
                    <a:pt x="2860525" y="565831"/>
                  </a:cubicBezTo>
                  <a:cubicBezTo>
                    <a:pt x="2856649" y="569706"/>
                    <a:pt x="2851392" y="571884"/>
                    <a:pt x="2845911" y="571884"/>
                  </a:cubicBezTo>
                  <a:lnTo>
                    <a:pt x="20667" y="571884"/>
                  </a:lnTo>
                  <a:cubicBezTo>
                    <a:pt x="15186" y="571884"/>
                    <a:pt x="9929" y="569706"/>
                    <a:pt x="6053" y="565831"/>
                  </a:cubicBezTo>
                  <a:cubicBezTo>
                    <a:pt x="2177" y="561955"/>
                    <a:pt x="0" y="556698"/>
                    <a:pt x="0" y="551217"/>
                  </a:cubicBezTo>
                  <a:lnTo>
                    <a:pt x="0" y="20667"/>
                  </a:lnTo>
                  <a:cubicBezTo>
                    <a:pt x="0" y="15186"/>
                    <a:pt x="2177" y="9929"/>
                    <a:pt x="6053" y="6053"/>
                  </a:cubicBezTo>
                  <a:cubicBezTo>
                    <a:pt x="9929" y="2177"/>
                    <a:pt x="15186" y="0"/>
                    <a:pt x="20667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66578" cy="609984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425537" y="5457369"/>
            <a:ext cx="9523548" cy="1350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0"/>
              </a:lnSpc>
              <a:spcBef>
                <a:spcPct val="0"/>
              </a:spcBef>
            </a:pPr>
            <a:r>
              <a:rPr lang="en-US" sz="2593" u="none" strike="noStrike" spc="12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Réduction dimensionnelle de 784 → 50 dimensions.</a:t>
            </a:r>
          </a:p>
          <a:p>
            <a:pPr marL="0" lvl="0" indent="0" algn="l">
              <a:lnSpc>
                <a:spcPts val="3630"/>
              </a:lnSpc>
              <a:spcBef>
                <a:spcPct val="0"/>
              </a:spcBef>
            </a:pPr>
            <a:r>
              <a:rPr lang="en-US" sz="2593" u="none" strike="noStrike" spc="12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Chaque composante capture la direction de variance maximale résiduelle dans les données MNIST.</a:t>
            </a:r>
          </a:p>
        </p:txBody>
      </p:sp>
      <p:sp>
        <p:nvSpPr>
          <p:cNvPr id="14" name="Freeform 14"/>
          <p:cNvSpPr/>
          <p:nvPr/>
        </p:nvSpPr>
        <p:spPr>
          <a:xfrm>
            <a:off x="4998624" y="6044859"/>
            <a:ext cx="586747" cy="223355"/>
          </a:xfrm>
          <a:custGeom>
            <a:avLst/>
            <a:gdLst/>
            <a:ahLst/>
            <a:cxnLst/>
            <a:rect l="l" t="t" r="r" b="b"/>
            <a:pathLst>
              <a:path w="586747" h="223355">
                <a:moveTo>
                  <a:pt x="0" y="0"/>
                </a:moveTo>
                <a:lnTo>
                  <a:pt x="586747" y="0"/>
                </a:lnTo>
                <a:lnTo>
                  <a:pt x="586747" y="223355"/>
                </a:lnTo>
                <a:lnTo>
                  <a:pt x="0" y="2233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70615" y="3124077"/>
            <a:ext cx="7651050" cy="12268447"/>
          </a:xfrm>
          <a:custGeom>
            <a:avLst/>
            <a:gdLst/>
            <a:ahLst/>
            <a:cxnLst/>
            <a:rect l="l" t="t" r="r" b="b"/>
            <a:pathLst>
              <a:path w="7651050" h="12268447">
                <a:moveTo>
                  <a:pt x="0" y="0"/>
                </a:moveTo>
                <a:lnTo>
                  <a:pt x="7651049" y="0"/>
                </a:lnTo>
                <a:lnTo>
                  <a:pt x="7651049" y="12268446"/>
                </a:lnTo>
                <a:lnTo>
                  <a:pt x="0" y="122684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1028700" y="4218294"/>
            <a:ext cx="4802016" cy="4479196"/>
            <a:chOff x="0" y="0"/>
            <a:chExt cx="1267130" cy="11819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7130" cy="1181946"/>
            </a:xfrm>
            <a:custGeom>
              <a:avLst/>
              <a:gdLst/>
              <a:ahLst/>
              <a:cxnLst/>
              <a:rect l="l" t="t" r="r" b="b"/>
              <a:pathLst>
                <a:path w="1267130" h="1181946">
                  <a:moveTo>
                    <a:pt x="46754" y="0"/>
                  </a:moveTo>
                  <a:lnTo>
                    <a:pt x="1220375" y="0"/>
                  </a:lnTo>
                  <a:cubicBezTo>
                    <a:pt x="1232775" y="0"/>
                    <a:pt x="1244667" y="4926"/>
                    <a:pt x="1253436" y="13694"/>
                  </a:cubicBezTo>
                  <a:cubicBezTo>
                    <a:pt x="1262204" y="22462"/>
                    <a:pt x="1267130" y="34354"/>
                    <a:pt x="1267130" y="46754"/>
                  </a:cubicBezTo>
                  <a:lnTo>
                    <a:pt x="1267130" y="1135191"/>
                  </a:lnTo>
                  <a:cubicBezTo>
                    <a:pt x="1267130" y="1147591"/>
                    <a:pt x="1262204" y="1159483"/>
                    <a:pt x="1253436" y="1168252"/>
                  </a:cubicBezTo>
                  <a:cubicBezTo>
                    <a:pt x="1244667" y="1177020"/>
                    <a:pt x="1232775" y="1181946"/>
                    <a:pt x="1220375" y="1181946"/>
                  </a:cubicBezTo>
                  <a:lnTo>
                    <a:pt x="46754" y="1181946"/>
                  </a:lnTo>
                  <a:cubicBezTo>
                    <a:pt x="34354" y="1181946"/>
                    <a:pt x="22462" y="1177020"/>
                    <a:pt x="13694" y="1168252"/>
                  </a:cubicBezTo>
                  <a:cubicBezTo>
                    <a:pt x="4926" y="1159483"/>
                    <a:pt x="0" y="1147591"/>
                    <a:pt x="0" y="1135191"/>
                  </a:cubicBezTo>
                  <a:lnTo>
                    <a:pt x="0" y="46754"/>
                  </a:lnTo>
                  <a:cubicBezTo>
                    <a:pt x="0" y="34354"/>
                    <a:pt x="4926" y="22462"/>
                    <a:pt x="13694" y="13694"/>
                  </a:cubicBezTo>
                  <a:cubicBezTo>
                    <a:pt x="22462" y="4926"/>
                    <a:pt x="34354" y="0"/>
                    <a:pt x="46754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67130" cy="1220046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457284" y="2085444"/>
            <a:ext cx="4802016" cy="4479196"/>
            <a:chOff x="0" y="0"/>
            <a:chExt cx="1267130" cy="11819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67130" cy="1181946"/>
            </a:xfrm>
            <a:custGeom>
              <a:avLst/>
              <a:gdLst/>
              <a:ahLst/>
              <a:cxnLst/>
              <a:rect l="l" t="t" r="r" b="b"/>
              <a:pathLst>
                <a:path w="1267130" h="1181946">
                  <a:moveTo>
                    <a:pt x="46754" y="0"/>
                  </a:moveTo>
                  <a:lnTo>
                    <a:pt x="1220375" y="0"/>
                  </a:lnTo>
                  <a:cubicBezTo>
                    <a:pt x="1232775" y="0"/>
                    <a:pt x="1244667" y="4926"/>
                    <a:pt x="1253436" y="13694"/>
                  </a:cubicBezTo>
                  <a:cubicBezTo>
                    <a:pt x="1262204" y="22462"/>
                    <a:pt x="1267130" y="34354"/>
                    <a:pt x="1267130" y="46754"/>
                  </a:cubicBezTo>
                  <a:lnTo>
                    <a:pt x="1267130" y="1135191"/>
                  </a:lnTo>
                  <a:cubicBezTo>
                    <a:pt x="1267130" y="1147591"/>
                    <a:pt x="1262204" y="1159483"/>
                    <a:pt x="1253436" y="1168252"/>
                  </a:cubicBezTo>
                  <a:cubicBezTo>
                    <a:pt x="1244667" y="1177020"/>
                    <a:pt x="1232775" y="1181946"/>
                    <a:pt x="1220375" y="1181946"/>
                  </a:cubicBezTo>
                  <a:lnTo>
                    <a:pt x="46754" y="1181946"/>
                  </a:lnTo>
                  <a:cubicBezTo>
                    <a:pt x="34354" y="1181946"/>
                    <a:pt x="22462" y="1177020"/>
                    <a:pt x="13694" y="1168252"/>
                  </a:cubicBezTo>
                  <a:cubicBezTo>
                    <a:pt x="4926" y="1159483"/>
                    <a:pt x="0" y="1147591"/>
                    <a:pt x="0" y="1135191"/>
                  </a:cubicBezTo>
                  <a:lnTo>
                    <a:pt x="0" y="46754"/>
                  </a:lnTo>
                  <a:cubicBezTo>
                    <a:pt x="0" y="34354"/>
                    <a:pt x="4926" y="22462"/>
                    <a:pt x="13694" y="13694"/>
                  </a:cubicBezTo>
                  <a:cubicBezTo>
                    <a:pt x="22462" y="4926"/>
                    <a:pt x="34354" y="0"/>
                    <a:pt x="46754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67130" cy="1220046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42992" y="3151869"/>
            <a:ext cx="4802016" cy="4479196"/>
            <a:chOff x="0" y="0"/>
            <a:chExt cx="1267130" cy="118194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67130" cy="1181946"/>
            </a:xfrm>
            <a:custGeom>
              <a:avLst/>
              <a:gdLst/>
              <a:ahLst/>
              <a:cxnLst/>
              <a:rect l="l" t="t" r="r" b="b"/>
              <a:pathLst>
                <a:path w="1267130" h="1181946">
                  <a:moveTo>
                    <a:pt x="46754" y="0"/>
                  </a:moveTo>
                  <a:lnTo>
                    <a:pt x="1220375" y="0"/>
                  </a:lnTo>
                  <a:cubicBezTo>
                    <a:pt x="1232775" y="0"/>
                    <a:pt x="1244667" y="4926"/>
                    <a:pt x="1253436" y="13694"/>
                  </a:cubicBezTo>
                  <a:cubicBezTo>
                    <a:pt x="1262204" y="22462"/>
                    <a:pt x="1267130" y="34354"/>
                    <a:pt x="1267130" y="46754"/>
                  </a:cubicBezTo>
                  <a:lnTo>
                    <a:pt x="1267130" y="1135191"/>
                  </a:lnTo>
                  <a:cubicBezTo>
                    <a:pt x="1267130" y="1147591"/>
                    <a:pt x="1262204" y="1159483"/>
                    <a:pt x="1253436" y="1168252"/>
                  </a:cubicBezTo>
                  <a:cubicBezTo>
                    <a:pt x="1244667" y="1177020"/>
                    <a:pt x="1232775" y="1181946"/>
                    <a:pt x="1220375" y="1181946"/>
                  </a:cubicBezTo>
                  <a:lnTo>
                    <a:pt x="46754" y="1181946"/>
                  </a:lnTo>
                  <a:cubicBezTo>
                    <a:pt x="34354" y="1181946"/>
                    <a:pt x="22462" y="1177020"/>
                    <a:pt x="13694" y="1168252"/>
                  </a:cubicBezTo>
                  <a:cubicBezTo>
                    <a:pt x="4926" y="1159483"/>
                    <a:pt x="0" y="1147591"/>
                    <a:pt x="0" y="1135191"/>
                  </a:cubicBezTo>
                  <a:lnTo>
                    <a:pt x="0" y="46754"/>
                  </a:lnTo>
                  <a:cubicBezTo>
                    <a:pt x="0" y="34354"/>
                    <a:pt x="4926" y="22462"/>
                    <a:pt x="13694" y="13694"/>
                  </a:cubicBezTo>
                  <a:cubicBezTo>
                    <a:pt x="22462" y="4926"/>
                    <a:pt x="34354" y="0"/>
                    <a:pt x="46754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67130" cy="1220046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56122" y="3460467"/>
            <a:ext cx="3784832" cy="414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24"/>
              </a:lnSpc>
              <a:spcBef>
                <a:spcPct val="0"/>
              </a:spcBef>
            </a:pPr>
            <a:r>
              <a:rPr lang="en-US" sz="2446" b="1" spc="12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56122" y="4038526"/>
            <a:ext cx="4011851" cy="2192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3"/>
              </a:lnSpc>
              <a:spcBef>
                <a:spcPct val="0"/>
              </a:spcBef>
            </a:pPr>
            <a:r>
              <a:rPr lang="en-US" sz="1795" u="none" strike="noStrike" spc="8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Ajustement des Dimensions</a:t>
            </a:r>
          </a:p>
          <a:p>
            <a:pPr marL="0" lvl="0" indent="0" algn="l">
              <a:lnSpc>
                <a:spcPts val="2513"/>
              </a:lnSpc>
              <a:spcBef>
                <a:spcPct val="0"/>
              </a:spcBef>
            </a:pPr>
            <a:r>
              <a:rPr lang="en-US" sz="1795" u="none" strike="noStrike" spc="8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Transformation stricte et cohérente entre jeu d'entraînement et jeu de test.</a:t>
            </a:r>
          </a:p>
          <a:p>
            <a:pPr marL="0" lvl="0" indent="0" algn="l">
              <a:lnSpc>
                <a:spcPts val="2513"/>
              </a:lnSpc>
              <a:spcBef>
                <a:spcPct val="0"/>
              </a:spcBef>
            </a:pPr>
            <a:r>
              <a:rPr lang="en-US" sz="1795" u="none" strike="noStrike" spc="8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Code :</a:t>
            </a:r>
          </a:p>
          <a:p>
            <a:pPr marL="0" lvl="0" indent="0" algn="l">
              <a:lnSpc>
                <a:spcPts val="2513"/>
              </a:lnSpc>
              <a:spcBef>
                <a:spcPct val="0"/>
              </a:spcBef>
            </a:pPr>
            <a:r>
              <a:rPr lang="en-US" sz="1795" u="none" strike="noStrike" spc="8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X_train_pca = pca.transform(X_train)</a:t>
            </a:r>
          </a:p>
          <a:p>
            <a:pPr marL="0" lvl="0" indent="0" algn="l">
              <a:lnSpc>
                <a:spcPts val="2513"/>
              </a:lnSpc>
              <a:spcBef>
                <a:spcPct val="0"/>
              </a:spcBef>
            </a:pPr>
            <a:r>
              <a:rPr lang="en-US" sz="1795" u="none" strike="noStrike" spc="8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X_test_pca = pca.transform(X_test)</a:t>
            </a:r>
          </a:p>
        </p:txBody>
      </p:sp>
      <p:sp>
        <p:nvSpPr>
          <p:cNvPr id="14" name="Freeform 14"/>
          <p:cNvSpPr/>
          <p:nvPr/>
        </p:nvSpPr>
        <p:spPr>
          <a:xfrm rot="1433494">
            <a:off x="4930128" y="2970811"/>
            <a:ext cx="1413072" cy="1379521"/>
          </a:xfrm>
          <a:custGeom>
            <a:avLst/>
            <a:gdLst/>
            <a:ahLst/>
            <a:cxnLst/>
            <a:rect l="l" t="t" r="r" b="b"/>
            <a:pathLst>
              <a:path w="1413072" h="1379521">
                <a:moveTo>
                  <a:pt x="0" y="0"/>
                </a:moveTo>
                <a:lnTo>
                  <a:pt x="1413072" y="0"/>
                </a:lnTo>
                <a:lnTo>
                  <a:pt x="1413072" y="1379521"/>
                </a:lnTo>
                <a:lnTo>
                  <a:pt x="0" y="13795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28700" y="762000"/>
            <a:ext cx="10516308" cy="1107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32"/>
              </a:lnSpc>
              <a:spcBef>
                <a:spcPct val="0"/>
              </a:spcBef>
            </a:pPr>
            <a:r>
              <a:rPr lang="en-US" sz="5523" b="1" u="none" strike="noStrike">
                <a:solidFill>
                  <a:srgbClr val="2B598F"/>
                </a:solidFill>
                <a:latin typeface="Agrandir Bold"/>
                <a:ea typeface="Agrandir Bold"/>
                <a:cs typeface="Agrandir Bold"/>
                <a:sym typeface="Agrandir Bold"/>
              </a:rPr>
              <a:t>Pipeline d'Implémentation PCA</a:t>
            </a:r>
          </a:p>
        </p:txBody>
      </p:sp>
      <p:sp>
        <p:nvSpPr>
          <p:cNvPr id="16" name="Freeform 16"/>
          <p:cNvSpPr/>
          <p:nvPr/>
        </p:nvSpPr>
        <p:spPr>
          <a:xfrm rot="1433494">
            <a:off x="10649180" y="1938069"/>
            <a:ext cx="1413072" cy="1379521"/>
          </a:xfrm>
          <a:custGeom>
            <a:avLst/>
            <a:gdLst/>
            <a:ahLst/>
            <a:cxnLst/>
            <a:rect l="l" t="t" r="r" b="b"/>
            <a:pathLst>
              <a:path w="1413072" h="1379521">
                <a:moveTo>
                  <a:pt x="0" y="0"/>
                </a:moveTo>
                <a:lnTo>
                  <a:pt x="1413072" y="0"/>
                </a:lnTo>
                <a:lnTo>
                  <a:pt x="1413072" y="1379521"/>
                </a:lnTo>
                <a:lnTo>
                  <a:pt x="0" y="13795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441830" y="4526892"/>
            <a:ext cx="3784832" cy="414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24"/>
              </a:lnSpc>
              <a:spcBef>
                <a:spcPct val="0"/>
              </a:spcBef>
            </a:pPr>
            <a:r>
              <a:rPr lang="en-US" sz="2446" b="1" spc="12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41830" y="5104952"/>
            <a:ext cx="4011851" cy="3135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3"/>
              </a:lnSpc>
              <a:spcBef>
                <a:spcPct val="0"/>
              </a:spcBef>
            </a:pPr>
            <a:r>
              <a:rPr lang="en-US" sz="1795" u="none" strike="noStrike" spc="8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Preprocessing</a:t>
            </a:r>
          </a:p>
          <a:p>
            <a:pPr marL="0" lvl="0" indent="0" algn="l">
              <a:lnSpc>
                <a:spcPts val="2513"/>
              </a:lnSpc>
              <a:spcBef>
                <a:spcPct val="0"/>
              </a:spcBef>
            </a:pPr>
            <a:r>
              <a:rPr lang="en-US" sz="1795" u="none" strike="noStrike" spc="8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Centrage et normalisation des données.</a:t>
            </a:r>
          </a:p>
          <a:p>
            <a:pPr marL="0" lvl="0" indent="0" algn="l">
              <a:lnSpc>
                <a:spcPts val="2513"/>
              </a:lnSpc>
              <a:spcBef>
                <a:spcPct val="0"/>
              </a:spcBef>
            </a:pPr>
            <a:r>
              <a:rPr lang="en-US" sz="1795" u="none" strike="noStrike" spc="8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Application de PCA(n_components=50) sur X_train.</a:t>
            </a:r>
          </a:p>
          <a:p>
            <a:pPr marL="0" lvl="0" indent="0" algn="l">
              <a:lnSpc>
                <a:spcPts val="2513"/>
              </a:lnSpc>
              <a:spcBef>
                <a:spcPct val="0"/>
              </a:spcBef>
            </a:pPr>
            <a:r>
              <a:rPr lang="en-US" sz="1795" u="none" strike="noStrike" spc="8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Réduction de 784 → 50 dimensions.</a:t>
            </a:r>
          </a:p>
          <a:p>
            <a:pPr marL="0" lvl="0" indent="0" algn="l">
              <a:lnSpc>
                <a:spcPts val="2513"/>
              </a:lnSpc>
              <a:spcBef>
                <a:spcPct val="0"/>
              </a:spcBef>
            </a:pPr>
            <a:r>
              <a:rPr lang="en-US" sz="1795" u="none" strike="noStrike" spc="8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Code : pca = PCA(n_components=50)</a:t>
            </a:r>
          </a:p>
          <a:p>
            <a:pPr marL="0" lvl="0" indent="0" algn="l">
              <a:lnSpc>
                <a:spcPts val="2513"/>
              </a:lnSpc>
              <a:spcBef>
                <a:spcPct val="0"/>
              </a:spcBef>
            </a:pPr>
            <a:r>
              <a:rPr lang="en-US" sz="1795" u="none" strike="noStrike" spc="8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pca.fit(X_train)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870414" y="2394042"/>
            <a:ext cx="3784832" cy="414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24"/>
              </a:lnSpc>
              <a:spcBef>
                <a:spcPct val="0"/>
              </a:spcBef>
            </a:pPr>
            <a:r>
              <a:rPr lang="en-US" sz="2446" b="1" spc="12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870414" y="2972101"/>
            <a:ext cx="4011851" cy="2192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3"/>
              </a:lnSpc>
              <a:spcBef>
                <a:spcPct val="0"/>
              </a:spcBef>
            </a:pPr>
            <a:r>
              <a:rPr lang="en-US" sz="1795" u="none" strike="noStrike" spc="8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Espace Latent Réduit</a:t>
            </a:r>
          </a:p>
          <a:p>
            <a:pPr marL="0" lvl="0" indent="0" algn="l">
              <a:lnSpc>
                <a:spcPts val="2513"/>
              </a:lnSpc>
              <a:spcBef>
                <a:spcPct val="0"/>
              </a:spcBef>
            </a:pPr>
            <a:r>
              <a:rPr lang="en-US" sz="1795" u="none" strike="noStrike" spc="8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Projection des données originales vers l'espace latent de 50 composantes principales.</a:t>
            </a:r>
          </a:p>
          <a:p>
            <a:pPr marL="0" lvl="0" indent="0" algn="l">
              <a:lnSpc>
                <a:spcPts val="2513"/>
              </a:lnSpc>
              <a:spcBef>
                <a:spcPct val="0"/>
              </a:spcBef>
            </a:pPr>
            <a:r>
              <a:rPr lang="en-US" sz="1795" u="none" strike="noStrike" spc="8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Capture de la variance maximale.</a:t>
            </a:r>
          </a:p>
          <a:p>
            <a:pPr marL="0" lvl="0" indent="0" algn="l">
              <a:lnSpc>
                <a:spcPts val="2513"/>
              </a:lnSpc>
              <a:spcBef>
                <a:spcPct val="0"/>
              </a:spcBef>
            </a:pPr>
            <a:r>
              <a:rPr lang="en-US" sz="1795" u="none" strike="noStrike" spc="8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Prêt pour la classification par réseau de neurones.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95400" y="2185575"/>
            <a:ext cx="6520769" cy="6528930"/>
          </a:xfrm>
          <a:custGeom>
            <a:avLst/>
            <a:gdLst/>
            <a:ahLst/>
            <a:cxnLst/>
            <a:rect l="l" t="t" r="r" b="b"/>
            <a:pathLst>
              <a:path w="6520769" h="6528930">
                <a:moveTo>
                  <a:pt x="0" y="0"/>
                </a:moveTo>
                <a:lnTo>
                  <a:pt x="6520769" y="0"/>
                </a:lnTo>
                <a:lnTo>
                  <a:pt x="6520769" y="6528930"/>
                </a:lnTo>
                <a:lnTo>
                  <a:pt x="0" y="65289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rnd">
            <a:noFill/>
            <a:prstDash val="solid"/>
            <a:round/>
          </a:ln>
        </p:spPr>
      </p:sp>
      <p:sp>
        <p:nvSpPr>
          <p:cNvPr id="3" name="Freeform 3"/>
          <p:cNvSpPr/>
          <p:nvPr/>
        </p:nvSpPr>
        <p:spPr>
          <a:xfrm>
            <a:off x="5562600" y="7675557"/>
            <a:ext cx="5784040" cy="1934682"/>
          </a:xfrm>
          <a:custGeom>
            <a:avLst/>
            <a:gdLst/>
            <a:ahLst/>
            <a:cxnLst/>
            <a:rect l="l" t="t" r="r" b="b"/>
            <a:pathLst>
              <a:path w="6856026" h="2622430">
                <a:moveTo>
                  <a:pt x="0" y="0"/>
                </a:moveTo>
                <a:lnTo>
                  <a:pt x="6856025" y="0"/>
                </a:lnTo>
                <a:lnTo>
                  <a:pt x="6856025" y="2622429"/>
                </a:lnTo>
                <a:lnTo>
                  <a:pt x="0" y="26224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86335" y="2669704"/>
            <a:ext cx="11867075" cy="2167257"/>
            <a:chOff x="0" y="0"/>
            <a:chExt cx="3131419" cy="57188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31419" cy="571884"/>
            </a:xfrm>
            <a:custGeom>
              <a:avLst/>
              <a:gdLst/>
              <a:ahLst/>
              <a:cxnLst/>
              <a:rect l="l" t="t" r="r" b="b"/>
              <a:pathLst>
                <a:path w="3131419" h="571884">
                  <a:moveTo>
                    <a:pt x="18919" y="0"/>
                  </a:moveTo>
                  <a:lnTo>
                    <a:pt x="3112500" y="0"/>
                  </a:lnTo>
                  <a:cubicBezTo>
                    <a:pt x="3122948" y="0"/>
                    <a:pt x="3131419" y="8470"/>
                    <a:pt x="3131419" y="18919"/>
                  </a:cubicBezTo>
                  <a:lnTo>
                    <a:pt x="3131419" y="552965"/>
                  </a:lnTo>
                  <a:cubicBezTo>
                    <a:pt x="3131419" y="557982"/>
                    <a:pt x="3129425" y="562794"/>
                    <a:pt x="3125877" y="566342"/>
                  </a:cubicBezTo>
                  <a:cubicBezTo>
                    <a:pt x="3122329" y="569891"/>
                    <a:pt x="3117517" y="571884"/>
                    <a:pt x="3112500" y="571884"/>
                  </a:cubicBezTo>
                  <a:lnTo>
                    <a:pt x="18919" y="571884"/>
                  </a:lnTo>
                  <a:cubicBezTo>
                    <a:pt x="13902" y="571884"/>
                    <a:pt x="9089" y="569891"/>
                    <a:pt x="5541" y="566342"/>
                  </a:cubicBezTo>
                  <a:cubicBezTo>
                    <a:pt x="1993" y="562794"/>
                    <a:pt x="0" y="557982"/>
                    <a:pt x="0" y="552965"/>
                  </a:cubicBezTo>
                  <a:lnTo>
                    <a:pt x="0" y="18919"/>
                  </a:lnTo>
                  <a:cubicBezTo>
                    <a:pt x="0" y="13902"/>
                    <a:pt x="1993" y="9089"/>
                    <a:pt x="5541" y="5541"/>
                  </a:cubicBezTo>
                  <a:cubicBezTo>
                    <a:pt x="9089" y="1993"/>
                    <a:pt x="13902" y="0"/>
                    <a:pt x="18919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131419" cy="609984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192121" y="3054164"/>
            <a:ext cx="11048426" cy="1242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7"/>
              </a:lnSpc>
              <a:spcBef>
                <a:spcPct val="0"/>
              </a:spcBef>
            </a:pPr>
            <a:r>
              <a:rPr lang="en-US" sz="2362" u="none" strike="noStrike" spc="1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Formule de reconstruction : X_reconstruit = X_pca × Wᵀ + μ</a:t>
            </a:r>
          </a:p>
          <a:p>
            <a:pPr marL="0" lvl="0" indent="0" algn="l">
              <a:lnSpc>
                <a:spcPts val="3307"/>
              </a:lnSpc>
              <a:spcBef>
                <a:spcPct val="0"/>
              </a:spcBef>
            </a:pPr>
            <a:r>
              <a:rPr lang="en-US" sz="2362" u="none" strike="noStrike" spc="1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La projection inverse ramène les données de l'espace latent (50 dims) vers l'espace original (784 dims), en filtrant les composantes à faible variance.</a:t>
            </a:r>
          </a:p>
        </p:txBody>
      </p:sp>
      <p:sp>
        <p:nvSpPr>
          <p:cNvPr id="8" name="Freeform 8"/>
          <p:cNvSpPr/>
          <p:nvPr/>
        </p:nvSpPr>
        <p:spPr>
          <a:xfrm>
            <a:off x="1028700" y="3661953"/>
            <a:ext cx="586747" cy="223355"/>
          </a:xfrm>
          <a:custGeom>
            <a:avLst/>
            <a:gdLst/>
            <a:ahLst/>
            <a:cxnLst/>
            <a:rect l="l" t="t" r="r" b="b"/>
            <a:pathLst>
              <a:path w="586747" h="223355">
                <a:moveTo>
                  <a:pt x="0" y="0"/>
                </a:moveTo>
                <a:lnTo>
                  <a:pt x="586747" y="0"/>
                </a:lnTo>
                <a:lnTo>
                  <a:pt x="586747" y="223356"/>
                </a:lnTo>
                <a:lnTo>
                  <a:pt x="0" y="2233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786335" y="5096134"/>
            <a:ext cx="11867075" cy="2167257"/>
            <a:chOff x="0" y="0"/>
            <a:chExt cx="3131419" cy="5718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31419" cy="571884"/>
            </a:xfrm>
            <a:custGeom>
              <a:avLst/>
              <a:gdLst/>
              <a:ahLst/>
              <a:cxnLst/>
              <a:rect l="l" t="t" r="r" b="b"/>
              <a:pathLst>
                <a:path w="3131419" h="571884">
                  <a:moveTo>
                    <a:pt x="18919" y="0"/>
                  </a:moveTo>
                  <a:lnTo>
                    <a:pt x="3112500" y="0"/>
                  </a:lnTo>
                  <a:cubicBezTo>
                    <a:pt x="3122948" y="0"/>
                    <a:pt x="3131419" y="8470"/>
                    <a:pt x="3131419" y="18919"/>
                  </a:cubicBezTo>
                  <a:lnTo>
                    <a:pt x="3131419" y="552965"/>
                  </a:lnTo>
                  <a:cubicBezTo>
                    <a:pt x="3131419" y="557982"/>
                    <a:pt x="3129425" y="562794"/>
                    <a:pt x="3125877" y="566342"/>
                  </a:cubicBezTo>
                  <a:cubicBezTo>
                    <a:pt x="3122329" y="569891"/>
                    <a:pt x="3117517" y="571884"/>
                    <a:pt x="3112500" y="571884"/>
                  </a:cubicBezTo>
                  <a:lnTo>
                    <a:pt x="18919" y="571884"/>
                  </a:lnTo>
                  <a:cubicBezTo>
                    <a:pt x="13902" y="571884"/>
                    <a:pt x="9089" y="569891"/>
                    <a:pt x="5541" y="566342"/>
                  </a:cubicBezTo>
                  <a:cubicBezTo>
                    <a:pt x="1993" y="562794"/>
                    <a:pt x="0" y="557982"/>
                    <a:pt x="0" y="552965"/>
                  </a:cubicBezTo>
                  <a:lnTo>
                    <a:pt x="0" y="18919"/>
                  </a:lnTo>
                  <a:cubicBezTo>
                    <a:pt x="0" y="13902"/>
                    <a:pt x="1993" y="9089"/>
                    <a:pt x="5541" y="5541"/>
                  </a:cubicBezTo>
                  <a:cubicBezTo>
                    <a:pt x="9089" y="1993"/>
                    <a:pt x="13902" y="0"/>
                    <a:pt x="18919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131419" cy="609984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192121" y="5480595"/>
            <a:ext cx="11048426" cy="1242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7"/>
              </a:lnSpc>
              <a:spcBef>
                <a:spcPct val="0"/>
              </a:spcBef>
            </a:pPr>
            <a:r>
              <a:rPr lang="en-US" sz="2362" u="none" strike="noStrike" spc="1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Effet passe-bas géométrique : les composantes principales capturent la structure essentielle, tandis que les composantes à haute fréquence (bruit) sont supprimées — résultat : images reconstruites plus lisses et épurées.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28700" y="6088384"/>
            <a:ext cx="586747" cy="223355"/>
          </a:xfrm>
          <a:custGeom>
            <a:avLst/>
            <a:gdLst/>
            <a:ahLst/>
            <a:cxnLst/>
            <a:rect l="l" t="t" r="r" b="b"/>
            <a:pathLst>
              <a:path w="586747" h="223355">
                <a:moveTo>
                  <a:pt x="0" y="0"/>
                </a:moveTo>
                <a:lnTo>
                  <a:pt x="586747" y="0"/>
                </a:lnTo>
                <a:lnTo>
                  <a:pt x="586747" y="223355"/>
                </a:lnTo>
                <a:lnTo>
                  <a:pt x="0" y="2233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8700" y="723900"/>
            <a:ext cx="12270325" cy="1300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151"/>
              </a:lnSpc>
              <a:spcBef>
                <a:spcPct val="0"/>
              </a:spcBef>
            </a:pPr>
            <a:r>
              <a:rPr lang="en-US" sz="6536" b="1" u="none" strike="noStrike">
                <a:solidFill>
                  <a:srgbClr val="2B598F"/>
                </a:solidFill>
                <a:latin typeface="Agrandir Bold"/>
                <a:ea typeface="Agrandir Bold"/>
                <a:cs typeface="Agrandir Bold"/>
                <a:sym typeface="Agrandir Bold"/>
              </a:rPr>
              <a:t>Denoising par Reconstruction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800000">
            <a:off x="196381" y="2025083"/>
            <a:ext cx="6095650" cy="6095650"/>
          </a:xfrm>
          <a:custGeom>
            <a:avLst/>
            <a:gdLst/>
            <a:ahLst/>
            <a:cxnLst/>
            <a:rect l="l" t="t" r="r" b="b"/>
            <a:pathLst>
              <a:path w="6095650" h="6095650">
                <a:moveTo>
                  <a:pt x="0" y="0"/>
                </a:moveTo>
                <a:lnTo>
                  <a:pt x="6095650" y="0"/>
                </a:lnTo>
                <a:lnTo>
                  <a:pt x="6095650" y="6095650"/>
                </a:lnTo>
                <a:lnTo>
                  <a:pt x="0" y="60956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31923" t="-30783" r="-30783" b="-31923"/>
            </a:stretch>
          </a:blipFill>
          <a:ln cap="rnd">
            <a:noFill/>
            <a:prstDash val="solid"/>
            <a:round/>
          </a:ln>
        </p:spPr>
      </p:sp>
      <p:sp>
        <p:nvSpPr>
          <p:cNvPr id="3" name="TextBox 3"/>
          <p:cNvSpPr txBox="1"/>
          <p:nvPr/>
        </p:nvSpPr>
        <p:spPr>
          <a:xfrm>
            <a:off x="2879338" y="800100"/>
            <a:ext cx="12529324" cy="971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29"/>
              </a:lnSpc>
              <a:spcBef>
                <a:spcPct val="0"/>
              </a:spcBef>
            </a:pPr>
            <a:r>
              <a:rPr lang="en-US" sz="4878" b="1" u="none" strike="noStrike">
                <a:solidFill>
                  <a:srgbClr val="2B598F"/>
                </a:solidFill>
                <a:latin typeface="Agrandir Bold"/>
                <a:ea typeface="Agrandir Bold"/>
                <a:cs typeface="Agrandir Bold"/>
                <a:sym typeface="Agrandir Bold"/>
              </a:rPr>
              <a:t>Résolution des Contraintes de Dimension</a:t>
            </a:r>
          </a:p>
        </p:txBody>
      </p:sp>
      <p:sp>
        <p:nvSpPr>
          <p:cNvPr id="4" name="Freeform 4"/>
          <p:cNvSpPr/>
          <p:nvPr/>
        </p:nvSpPr>
        <p:spPr>
          <a:xfrm>
            <a:off x="16369446" y="8612948"/>
            <a:ext cx="1081622" cy="653340"/>
          </a:xfrm>
          <a:custGeom>
            <a:avLst/>
            <a:gdLst/>
            <a:ahLst/>
            <a:cxnLst/>
            <a:rect l="l" t="t" r="r" b="b"/>
            <a:pathLst>
              <a:path w="1081622" h="653340">
                <a:moveTo>
                  <a:pt x="0" y="0"/>
                </a:moveTo>
                <a:lnTo>
                  <a:pt x="1081621" y="0"/>
                </a:lnTo>
                <a:lnTo>
                  <a:pt x="1081621" y="653340"/>
                </a:lnTo>
                <a:lnTo>
                  <a:pt x="0" y="6533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5167402" y="2528228"/>
            <a:ext cx="10863414" cy="2167257"/>
            <a:chOff x="0" y="0"/>
            <a:chExt cx="2866578" cy="5718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66578" cy="571884"/>
            </a:xfrm>
            <a:custGeom>
              <a:avLst/>
              <a:gdLst/>
              <a:ahLst/>
              <a:cxnLst/>
              <a:rect l="l" t="t" r="r" b="b"/>
              <a:pathLst>
                <a:path w="2866578" h="571884">
                  <a:moveTo>
                    <a:pt x="20667" y="0"/>
                  </a:moveTo>
                  <a:lnTo>
                    <a:pt x="2845911" y="0"/>
                  </a:lnTo>
                  <a:cubicBezTo>
                    <a:pt x="2857325" y="0"/>
                    <a:pt x="2866578" y="9253"/>
                    <a:pt x="2866578" y="20667"/>
                  </a:cubicBezTo>
                  <a:lnTo>
                    <a:pt x="2866578" y="551217"/>
                  </a:lnTo>
                  <a:cubicBezTo>
                    <a:pt x="2866578" y="556698"/>
                    <a:pt x="2864401" y="561955"/>
                    <a:pt x="2860525" y="565831"/>
                  </a:cubicBezTo>
                  <a:cubicBezTo>
                    <a:pt x="2856649" y="569706"/>
                    <a:pt x="2851392" y="571884"/>
                    <a:pt x="2845911" y="571884"/>
                  </a:cubicBezTo>
                  <a:lnTo>
                    <a:pt x="20667" y="571884"/>
                  </a:lnTo>
                  <a:cubicBezTo>
                    <a:pt x="15186" y="571884"/>
                    <a:pt x="9929" y="569706"/>
                    <a:pt x="6053" y="565831"/>
                  </a:cubicBezTo>
                  <a:cubicBezTo>
                    <a:pt x="2177" y="561955"/>
                    <a:pt x="0" y="556698"/>
                    <a:pt x="0" y="551217"/>
                  </a:cubicBezTo>
                  <a:lnTo>
                    <a:pt x="0" y="20667"/>
                  </a:lnTo>
                  <a:cubicBezTo>
                    <a:pt x="0" y="15186"/>
                    <a:pt x="2177" y="9929"/>
                    <a:pt x="6053" y="6053"/>
                  </a:cubicBezTo>
                  <a:cubicBezTo>
                    <a:pt x="9929" y="2177"/>
                    <a:pt x="15186" y="0"/>
                    <a:pt x="20667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866578" cy="609984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425537" y="3047061"/>
            <a:ext cx="9523548" cy="1311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 spc="9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Analyse de la ValueError (1D/2D) : En numpy, passer un vecteur 1D à un modèle entraîné sur des matrices 2D déclenche une ValueError. Cas fréquent lors de la prédiction sur un seul échantillon. Astuce clé : utiliser .reshape(1, -1) pour convertir un vecteur de forme (n,) en matrice (1, n) compatible.</a:t>
            </a:r>
          </a:p>
        </p:txBody>
      </p:sp>
      <p:sp>
        <p:nvSpPr>
          <p:cNvPr id="9" name="Freeform 9"/>
          <p:cNvSpPr/>
          <p:nvPr/>
        </p:nvSpPr>
        <p:spPr>
          <a:xfrm>
            <a:off x="4998624" y="3615501"/>
            <a:ext cx="586747" cy="223355"/>
          </a:xfrm>
          <a:custGeom>
            <a:avLst/>
            <a:gdLst/>
            <a:ahLst/>
            <a:cxnLst/>
            <a:rect l="l" t="t" r="r" b="b"/>
            <a:pathLst>
              <a:path w="586747" h="223355">
                <a:moveTo>
                  <a:pt x="0" y="0"/>
                </a:moveTo>
                <a:lnTo>
                  <a:pt x="586747" y="0"/>
                </a:lnTo>
                <a:lnTo>
                  <a:pt x="586747" y="223355"/>
                </a:lnTo>
                <a:lnTo>
                  <a:pt x="0" y="2233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585370" y="7857406"/>
            <a:ext cx="6932133" cy="2311644"/>
          </a:xfrm>
          <a:custGeom>
            <a:avLst/>
            <a:gdLst/>
            <a:ahLst/>
            <a:cxnLst/>
            <a:rect l="l" t="t" r="r" b="b"/>
            <a:pathLst>
              <a:path w="8478904" h="2723848">
                <a:moveTo>
                  <a:pt x="0" y="0"/>
                </a:moveTo>
                <a:lnTo>
                  <a:pt x="8478904" y="0"/>
                </a:lnTo>
                <a:lnTo>
                  <a:pt x="8478904" y="2723848"/>
                </a:lnTo>
                <a:lnTo>
                  <a:pt x="0" y="2723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5085671" y="4961230"/>
            <a:ext cx="10863414" cy="2167257"/>
            <a:chOff x="0" y="0"/>
            <a:chExt cx="2866578" cy="5718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66578" cy="571884"/>
            </a:xfrm>
            <a:custGeom>
              <a:avLst/>
              <a:gdLst/>
              <a:ahLst/>
              <a:cxnLst/>
              <a:rect l="l" t="t" r="r" b="b"/>
              <a:pathLst>
                <a:path w="2866578" h="571884">
                  <a:moveTo>
                    <a:pt x="20667" y="0"/>
                  </a:moveTo>
                  <a:lnTo>
                    <a:pt x="2845911" y="0"/>
                  </a:lnTo>
                  <a:cubicBezTo>
                    <a:pt x="2857325" y="0"/>
                    <a:pt x="2866578" y="9253"/>
                    <a:pt x="2866578" y="20667"/>
                  </a:cubicBezTo>
                  <a:lnTo>
                    <a:pt x="2866578" y="551217"/>
                  </a:lnTo>
                  <a:cubicBezTo>
                    <a:pt x="2866578" y="556698"/>
                    <a:pt x="2864401" y="561955"/>
                    <a:pt x="2860525" y="565831"/>
                  </a:cubicBezTo>
                  <a:cubicBezTo>
                    <a:pt x="2856649" y="569706"/>
                    <a:pt x="2851392" y="571884"/>
                    <a:pt x="2845911" y="571884"/>
                  </a:cubicBezTo>
                  <a:lnTo>
                    <a:pt x="20667" y="571884"/>
                  </a:lnTo>
                  <a:cubicBezTo>
                    <a:pt x="15186" y="571884"/>
                    <a:pt x="9929" y="569706"/>
                    <a:pt x="6053" y="565831"/>
                  </a:cubicBezTo>
                  <a:cubicBezTo>
                    <a:pt x="2177" y="561955"/>
                    <a:pt x="0" y="556698"/>
                    <a:pt x="0" y="551217"/>
                  </a:cubicBezTo>
                  <a:lnTo>
                    <a:pt x="0" y="20667"/>
                  </a:lnTo>
                  <a:cubicBezTo>
                    <a:pt x="0" y="15186"/>
                    <a:pt x="2177" y="9929"/>
                    <a:pt x="6053" y="6053"/>
                  </a:cubicBezTo>
                  <a:cubicBezTo>
                    <a:pt x="9929" y="2177"/>
                    <a:pt x="15186" y="0"/>
                    <a:pt x="20667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66578" cy="609984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425537" y="5476419"/>
            <a:ext cx="9523548" cy="1311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Bonnes pratiques : </a:t>
            </a:r>
            <a:r>
              <a:rPr lang="en-US" sz="1900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Toujours</a:t>
            </a:r>
            <a:r>
              <a:rPr lang="en-US" sz="1900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900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vérifier</a:t>
            </a:r>
            <a:r>
              <a:rPr lang="en-US" sz="1900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les </a:t>
            </a:r>
            <a:r>
              <a:rPr lang="en-US" sz="1900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formes</a:t>
            </a:r>
            <a:r>
              <a:rPr lang="en-US" sz="1900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avec .shape avant toute transformation. </a:t>
            </a:r>
            <a:r>
              <a:rPr lang="en-US" sz="1900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Utiliser</a:t>
            </a:r>
            <a:r>
              <a:rPr lang="en-US" sz="1900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.reshape(-1, 1) pour les </a:t>
            </a:r>
            <a:r>
              <a:rPr lang="en-US" sz="1900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colonnes</a:t>
            </a:r>
            <a:r>
              <a:rPr lang="en-US" sz="1900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et .reshape(1, -1) pour les </a:t>
            </a:r>
            <a:r>
              <a:rPr lang="en-US" sz="1900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lignes</a:t>
            </a:r>
            <a:r>
              <a:rPr lang="en-US" sz="1900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. Appliquer </a:t>
            </a:r>
            <a:r>
              <a:rPr lang="en-US" sz="1900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pca.transform</a:t>
            </a:r>
            <a:r>
              <a:rPr lang="en-US" sz="1900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(</a:t>
            </a:r>
            <a:r>
              <a:rPr lang="en-US" sz="1900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x.reshape</a:t>
            </a:r>
            <a:r>
              <a:rPr lang="en-US" sz="1900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(1, -1)) </a:t>
            </a:r>
            <a:r>
              <a:rPr lang="en-US" sz="1900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lors</a:t>
            </a:r>
            <a:r>
              <a:rPr lang="en-US" sz="1900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de la projection d'un seul </a:t>
            </a:r>
            <a:r>
              <a:rPr lang="en-US" sz="1900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vecteur</a:t>
            </a:r>
            <a:r>
              <a:rPr lang="en-US" sz="1900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dans </a:t>
            </a:r>
            <a:r>
              <a:rPr lang="en-US" sz="1900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l'espace</a:t>
            </a:r>
            <a:r>
              <a:rPr lang="en-US" sz="1900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latent </a:t>
            </a:r>
            <a:r>
              <a:rPr lang="en-US" sz="1900" u="none" strike="noStrike" spc="9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réduit</a:t>
            </a:r>
            <a:r>
              <a:rPr lang="en-US" sz="1900" u="none" strike="noStrike" spc="9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(50 dimensions).</a:t>
            </a:r>
          </a:p>
        </p:txBody>
      </p:sp>
      <p:sp>
        <p:nvSpPr>
          <p:cNvPr id="15" name="Freeform 15"/>
          <p:cNvSpPr/>
          <p:nvPr/>
        </p:nvSpPr>
        <p:spPr>
          <a:xfrm>
            <a:off x="4998624" y="6044859"/>
            <a:ext cx="586747" cy="223355"/>
          </a:xfrm>
          <a:custGeom>
            <a:avLst/>
            <a:gdLst/>
            <a:ahLst/>
            <a:cxnLst/>
            <a:rect l="l" t="t" r="r" b="b"/>
            <a:pathLst>
              <a:path w="586747" h="223355">
                <a:moveTo>
                  <a:pt x="0" y="0"/>
                </a:moveTo>
                <a:lnTo>
                  <a:pt x="586747" y="0"/>
                </a:lnTo>
                <a:lnTo>
                  <a:pt x="586747" y="223355"/>
                </a:lnTo>
                <a:lnTo>
                  <a:pt x="0" y="2233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6514013" y="8552877"/>
            <a:ext cx="797253" cy="777942"/>
          </a:xfrm>
          <a:custGeom>
            <a:avLst/>
            <a:gdLst/>
            <a:ahLst/>
            <a:cxnLst/>
            <a:rect l="l" t="t" r="r" b="b"/>
            <a:pathLst>
              <a:path w="797253" h="777942">
                <a:moveTo>
                  <a:pt x="0" y="0"/>
                </a:moveTo>
                <a:lnTo>
                  <a:pt x="797253" y="0"/>
                </a:lnTo>
                <a:lnTo>
                  <a:pt x="797253" y="777942"/>
                </a:lnTo>
                <a:lnTo>
                  <a:pt x="0" y="777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13818772" y="8452627"/>
            <a:ext cx="2432042" cy="339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96"/>
              </a:lnSpc>
            </a:pPr>
            <a:r>
              <a:rPr lang="en-US" sz="1997" spc="9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Module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818772" y="8751606"/>
            <a:ext cx="2432042" cy="364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014"/>
              </a:lnSpc>
            </a:pPr>
            <a:r>
              <a:rPr lang="en-US" sz="2153" b="1" spc="10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Machine Learning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96249" y="952500"/>
            <a:ext cx="11061416" cy="1111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9215"/>
              </a:lnSpc>
              <a:spcBef>
                <a:spcPct val="0"/>
              </a:spcBef>
            </a:pPr>
            <a:r>
              <a:rPr lang="en-US" sz="6582" b="1" u="none" strike="noStrike" dirty="0">
                <a:solidFill>
                  <a:srgbClr val="2B598F"/>
                </a:solidFill>
                <a:latin typeface="Agrandir Bold"/>
                <a:ea typeface="Agrandir Bold"/>
                <a:cs typeface="Agrandir Bold"/>
                <a:sym typeface="Agrandir Bold"/>
              </a:rPr>
              <a:t>Architecture </a:t>
            </a:r>
            <a:r>
              <a:rPr lang="en-US" sz="6582" b="1" u="none" strike="noStrike" dirty="0" err="1">
                <a:solidFill>
                  <a:srgbClr val="2B598F"/>
                </a:solidFill>
                <a:latin typeface="Agrandir Bold"/>
                <a:ea typeface="Agrandir Bold"/>
                <a:cs typeface="Agrandir Bold"/>
                <a:sym typeface="Agrandir Bold"/>
              </a:rPr>
              <a:t>Keras</a:t>
            </a:r>
            <a:endParaRPr lang="en-US" sz="6582" b="1" u="none" strike="noStrike" dirty="0">
              <a:solidFill>
                <a:srgbClr val="2B598F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430335" y="3552926"/>
            <a:ext cx="7427330" cy="3657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61"/>
              </a:lnSpc>
              <a:spcBef>
                <a:spcPct val="0"/>
              </a:spcBef>
            </a:pPr>
            <a:r>
              <a:rPr lang="en-US" sz="2257" u="none" strike="noStrike" spc="11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Modèle</a:t>
            </a:r>
            <a:r>
              <a:rPr lang="en-US" sz="2257" u="none" strike="noStrike" spc="11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57" u="none" strike="noStrike" spc="11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séquentiel</a:t>
            </a:r>
            <a:r>
              <a:rPr lang="en-US" sz="2257" u="none" strike="noStrike" spc="11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Dense avec </a:t>
            </a:r>
            <a:r>
              <a:rPr lang="en-US" sz="2257" u="none" strike="noStrike" spc="11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input_shape</a:t>
            </a:r>
            <a:r>
              <a:rPr lang="en-US" sz="2257" u="none" strike="noStrike" spc="11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=(50,) </a:t>
            </a:r>
            <a:r>
              <a:rPr lang="en-US" sz="2257" u="none" strike="noStrike" spc="11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adapté</a:t>
            </a:r>
            <a:r>
              <a:rPr lang="en-US" sz="2257" u="none" strike="noStrike" spc="11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à </a:t>
            </a:r>
            <a:r>
              <a:rPr lang="en-US" sz="2257" u="none" strike="noStrike" spc="11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l'espace</a:t>
            </a:r>
            <a:r>
              <a:rPr lang="en-US" sz="2257" u="none" strike="noStrike" spc="11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latent PCA.</a:t>
            </a:r>
          </a:p>
          <a:p>
            <a:pPr marL="0" lvl="0" indent="0" algn="r">
              <a:lnSpc>
                <a:spcPts val="3161"/>
              </a:lnSpc>
              <a:spcBef>
                <a:spcPct val="0"/>
              </a:spcBef>
            </a:pPr>
            <a:r>
              <a:rPr lang="en-US" sz="2257" u="none" strike="noStrike" spc="11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• Couche </a:t>
            </a:r>
            <a:r>
              <a:rPr lang="en-US" sz="2257" u="none" strike="noStrike" spc="11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d'entrée</a:t>
            </a:r>
            <a:r>
              <a:rPr lang="en-US" sz="2257" u="none" strike="noStrike" spc="11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: 50 </a:t>
            </a:r>
            <a:r>
              <a:rPr lang="en-US" sz="2257" u="none" strike="noStrike" spc="11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neurones</a:t>
            </a:r>
            <a:r>
              <a:rPr lang="en-US" sz="2257" u="none" strike="noStrike" spc="11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(dimensions PCA)</a:t>
            </a:r>
          </a:p>
          <a:p>
            <a:pPr marL="0" lvl="0" indent="0" algn="r">
              <a:lnSpc>
                <a:spcPts val="3161"/>
              </a:lnSpc>
              <a:spcBef>
                <a:spcPct val="0"/>
              </a:spcBef>
            </a:pPr>
            <a:r>
              <a:rPr lang="en-US" sz="2257" u="none" strike="noStrike" spc="11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• Couche </a:t>
            </a:r>
            <a:r>
              <a:rPr lang="en-US" sz="2257" u="none" strike="noStrike" spc="11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cachée</a:t>
            </a:r>
            <a:r>
              <a:rPr lang="en-US" sz="2257" u="none" strike="noStrike" spc="11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1 : 128 </a:t>
            </a:r>
            <a:r>
              <a:rPr lang="en-US" sz="2257" u="none" strike="noStrike" spc="11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neurones</a:t>
            </a:r>
            <a:r>
              <a:rPr lang="en-US" sz="2257" u="none" strike="noStrike" spc="11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, activation </a:t>
            </a:r>
            <a:r>
              <a:rPr lang="en-US" sz="2257" u="none" strike="noStrike" spc="11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ReLU</a:t>
            </a:r>
            <a:endParaRPr lang="en-US" sz="2257" u="none" strike="noStrike" spc="11" dirty="0">
              <a:solidFill>
                <a:srgbClr val="181D2B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0" lvl="0" indent="0" algn="r">
              <a:lnSpc>
                <a:spcPts val="3161"/>
              </a:lnSpc>
              <a:spcBef>
                <a:spcPct val="0"/>
              </a:spcBef>
            </a:pPr>
            <a:r>
              <a:rPr lang="en-US" sz="2257" u="none" strike="noStrike" spc="11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• Couche </a:t>
            </a:r>
            <a:r>
              <a:rPr lang="en-US" sz="2257" u="none" strike="noStrike" spc="11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cachée</a:t>
            </a:r>
            <a:r>
              <a:rPr lang="en-US" sz="2257" u="none" strike="noStrike" spc="11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2 : 64 </a:t>
            </a:r>
            <a:r>
              <a:rPr lang="en-US" sz="2257" u="none" strike="noStrike" spc="11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neurones</a:t>
            </a:r>
            <a:r>
              <a:rPr lang="en-US" sz="2257" u="none" strike="noStrike" spc="11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, activation </a:t>
            </a:r>
            <a:r>
              <a:rPr lang="en-US" sz="2257" u="none" strike="noStrike" spc="11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ReLU</a:t>
            </a:r>
            <a:endParaRPr lang="en-US" sz="2257" u="none" strike="noStrike" spc="11" dirty="0">
              <a:solidFill>
                <a:srgbClr val="181D2B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0" lvl="0" indent="0" algn="r">
              <a:lnSpc>
                <a:spcPts val="3161"/>
              </a:lnSpc>
              <a:spcBef>
                <a:spcPct val="0"/>
              </a:spcBef>
            </a:pPr>
            <a:r>
              <a:rPr lang="en-US" sz="2257" u="none" strike="noStrike" spc="11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• Couche de sortie : 10 </a:t>
            </a:r>
            <a:r>
              <a:rPr lang="en-US" sz="2257" u="none" strike="noStrike" spc="11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neurones</a:t>
            </a:r>
            <a:r>
              <a:rPr lang="en-US" sz="2257" u="none" strike="noStrike" spc="11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, activation </a:t>
            </a:r>
            <a:r>
              <a:rPr lang="en-US" sz="2257" u="none" strike="noStrike" spc="11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Softmax</a:t>
            </a:r>
            <a:endParaRPr lang="en-US" sz="2257" u="none" strike="noStrike" spc="11" dirty="0">
              <a:solidFill>
                <a:srgbClr val="181D2B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0" lvl="0" indent="0" algn="r">
              <a:lnSpc>
                <a:spcPts val="3161"/>
              </a:lnSpc>
              <a:spcBef>
                <a:spcPct val="0"/>
              </a:spcBef>
            </a:pPr>
            <a:r>
              <a:rPr lang="en-US" sz="2257" u="none" strike="noStrike" spc="11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Optimisation</a:t>
            </a:r>
            <a:r>
              <a:rPr lang="en-US" sz="2257" u="none" strike="noStrike" spc="11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: Adam optimizer,</a:t>
            </a:r>
          </a:p>
          <a:p>
            <a:pPr marL="0" lvl="0" indent="0" algn="r">
              <a:lnSpc>
                <a:spcPts val="3161"/>
              </a:lnSpc>
              <a:spcBef>
                <a:spcPct val="0"/>
              </a:spcBef>
            </a:pPr>
            <a:r>
              <a:rPr lang="en-US" sz="2257" u="none" strike="noStrike" spc="11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loss = </a:t>
            </a:r>
            <a:r>
              <a:rPr lang="en-US" sz="2257" u="none" strike="noStrike" spc="11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categorical_crossentropy</a:t>
            </a:r>
            <a:r>
              <a:rPr lang="en-US" sz="2257" u="none" strike="noStrike" spc="11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</a:p>
          <a:p>
            <a:pPr marL="0" lvl="0" indent="0" algn="r">
              <a:lnSpc>
                <a:spcPts val="3161"/>
              </a:lnSpc>
              <a:spcBef>
                <a:spcPct val="0"/>
              </a:spcBef>
            </a:pPr>
            <a:r>
              <a:rPr lang="en-US" sz="2257" u="none" strike="noStrike" spc="11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Précision</a:t>
            </a:r>
            <a:r>
              <a:rPr lang="en-US" sz="2257" u="none" strike="noStrike" spc="11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finale : 97,64 %.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685800" y="2366458"/>
            <a:ext cx="9343257" cy="8578808"/>
          </a:xfrm>
          <a:custGeom>
            <a:avLst/>
            <a:gdLst/>
            <a:ahLst/>
            <a:cxnLst/>
            <a:rect l="l" t="t" r="r" b="b"/>
            <a:pathLst>
              <a:path w="9343257" h="8578808">
                <a:moveTo>
                  <a:pt x="0" y="0"/>
                </a:moveTo>
                <a:lnTo>
                  <a:pt x="9343257" y="0"/>
                </a:lnTo>
                <a:lnTo>
                  <a:pt x="9343257" y="8578808"/>
                </a:lnTo>
                <a:lnTo>
                  <a:pt x="0" y="8578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5772013" y="3914475"/>
            <a:ext cx="10249037" cy="2458051"/>
            <a:chOff x="0" y="0"/>
            <a:chExt cx="2704460" cy="6486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4460" cy="648617"/>
            </a:xfrm>
            <a:custGeom>
              <a:avLst/>
              <a:gdLst/>
              <a:ahLst/>
              <a:cxnLst/>
              <a:rect l="l" t="t" r="r" b="b"/>
              <a:pathLst>
                <a:path w="2704460" h="648617">
                  <a:moveTo>
                    <a:pt x="21906" y="0"/>
                  </a:moveTo>
                  <a:lnTo>
                    <a:pt x="2682554" y="0"/>
                  </a:lnTo>
                  <a:cubicBezTo>
                    <a:pt x="2694652" y="0"/>
                    <a:pt x="2704460" y="9808"/>
                    <a:pt x="2704460" y="21906"/>
                  </a:cubicBezTo>
                  <a:lnTo>
                    <a:pt x="2704460" y="626711"/>
                  </a:lnTo>
                  <a:cubicBezTo>
                    <a:pt x="2704460" y="632521"/>
                    <a:pt x="2702152" y="638093"/>
                    <a:pt x="2698043" y="642201"/>
                  </a:cubicBezTo>
                  <a:cubicBezTo>
                    <a:pt x="2693935" y="646309"/>
                    <a:pt x="2688363" y="648617"/>
                    <a:pt x="2682554" y="648617"/>
                  </a:cubicBezTo>
                  <a:lnTo>
                    <a:pt x="21906" y="648617"/>
                  </a:lnTo>
                  <a:cubicBezTo>
                    <a:pt x="16096" y="648617"/>
                    <a:pt x="10524" y="646309"/>
                    <a:pt x="6416" y="642201"/>
                  </a:cubicBezTo>
                  <a:cubicBezTo>
                    <a:pt x="2308" y="638093"/>
                    <a:pt x="0" y="632521"/>
                    <a:pt x="0" y="626711"/>
                  </a:cubicBezTo>
                  <a:lnTo>
                    <a:pt x="0" y="21906"/>
                  </a:lnTo>
                  <a:cubicBezTo>
                    <a:pt x="0" y="16096"/>
                    <a:pt x="2308" y="10524"/>
                    <a:pt x="6416" y="6416"/>
                  </a:cubicBezTo>
                  <a:cubicBezTo>
                    <a:pt x="10524" y="2308"/>
                    <a:pt x="16096" y="0"/>
                    <a:pt x="21906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04460" cy="686717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120067" y="4160012"/>
            <a:ext cx="9710250" cy="414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24"/>
              </a:lnSpc>
              <a:spcBef>
                <a:spcPct val="0"/>
              </a:spcBef>
            </a:pPr>
            <a:r>
              <a:rPr lang="en-US" sz="2446" b="1" u="none" strike="noStrike" spc="12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Intégration des Callbacks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20067" y="4738071"/>
            <a:ext cx="9710250" cy="1017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41"/>
              </a:lnSpc>
              <a:spcBef>
                <a:spcPct val="0"/>
              </a:spcBef>
            </a:pPr>
            <a:r>
              <a:rPr lang="en-US" sz="1958" u="none" strike="noStrike" spc="9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Utilisation de tf.keras.callbacks.TensorBoard pour le suivi de l'entraînement. Gestion automatisée des dossiers logs horodatés pour chaque session. Ajout du callback dans model.fit() pour une supervision complète.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010263" y="6800249"/>
            <a:ext cx="10249037" cy="2458051"/>
            <a:chOff x="0" y="0"/>
            <a:chExt cx="2704460" cy="64861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04460" cy="648617"/>
            </a:xfrm>
            <a:custGeom>
              <a:avLst/>
              <a:gdLst/>
              <a:ahLst/>
              <a:cxnLst/>
              <a:rect l="l" t="t" r="r" b="b"/>
              <a:pathLst>
                <a:path w="2704460" h="648617">
                  <a:moveTo>
                    <a:pt x="21906" y="0"/>
                  </a:moveTo>
                  <a:lnTo>
                    <a:pt x="2682554" y="0"/>
                  </a:lnTo>
                  <a:cubicBezTo>
                    <a:pt x="2694652" y="0"/>
                    <a:pt x="2704460" y="9808"/>
                    <a:pt x="2704460" y="21906"/>
                  </a:cubicBezTo>
                  <a:lnTo>
                    <a:pt x="2704460" y="626711"/>
                  </a:lnTo>
                  <a:cubicBezTo>
                    <a:pt x="2704460" y="632521"/>
                    <a:pt x="2702152" y="638093"/>
                    <a:pt x="2698043" y="642201"/>
                  </a:cubicBezTo>
                  <a:cubicBezTo>
                    <a:pt x="2693935" y="646309"/>
                    <a:pt x="2688363" y="648617"/>
                    <a:pt x="2682554" y="648617"/>
                  </a:cubicBezTo>
                  <a:lnTo>
                    <a:pt x="21906" y="648617"/>
                  </a:lnTo>
                  <a:cubicBezTo>
                    <a:pt x="16096" y="648617"/>
                    <a:pt x="10524" y="646309"/>
                    <a:pt x="6416" y="642201"/>
                  </a:cubicBezTo>
                  <a:cubicBezTo>
                    <a:pt x="2308" y="638093"/>
                    <a:pt x="0" y="632521"/>
                    <a:pt x="0" y="626711"/>
                  </a:cubicBezTo>
                  <a:lnTo>
                    <a:pt x="0" y="21906"/>
                  </a:lnTo>
                  <a:cubicBezTo>
                    <a:pt x="0" y="16096"/>
                    <a:pt x="2308" y="10524"/>
                    <a:pt x="6416" y="6416"/>
                  </a:cubicBezTo>
                  <a:cubicBezTo>
                    <a:pt x="10524" y="2308"/>
                    <a:pt x="16096" y="0"/>
                    <a:pt x="21906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704460" cy="686717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358317" y="7045786"/>
            <a:ext cx="9710250" cy="414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24"/>
              </a:lnSpc>
              <a:spcBef>
                <a:spcPct val="0"/>
              </a:spcBef>
            </a:pPr>
            <a:r>
              <a:rPr lang="en-US" sz="2446" b="1" spc="12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Monitoring &amp; Visualisation Interactive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58317" y="7623846"/>
            <a:ext cx="9710250" cy="1017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41"/>
              </a:lnSpc>
              <a:spcBef>
                <a:spcPct val="0"/>
              </a:spcBef>
            </a:pPr>
            <a:r>
              <a:rPr lang="en-US" sz="1958" u="none" strike="noStrike" spc="9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Monitoring en temps réel des métriques : loss et accuracy par époque. Visualisation interactive via le dashboard TensorBoard sur le port 6006. Analyse approfondie des courbes de convergence et détection du surapprentissage.</a:t>
            </a:r>
          </a:p>
        </p:txBody>
      </p:sp>
      <p:sp>
        <p:nvSpPr>
          <p:cNvPr id="13" name="Freeform 13"/>
          <p:cNvSpPr/>
          <p:nvPr/>
        </p:nvSpPr>
        <p:spPr>
          <a:xfrm>
            <a:off x="1750951" y="4016931"/>
            <a:ext cx="3106447" cy="1859985"/>
          </a:xfrm>
          <a:custGeom>
            <a:avLst/>
            <a:gdLst/>
            <a:ahLst/>
            <a:cxnLst/>
            <a:rect l="l" t="t" r="r" b="b"/>
            <a:pathLst>
              <a:path w="3106447" h="1859985">
                <a:moveTo>
                  <a:pt x="0" y="0"/>
                </a:moveTo>
                <a:lnTo>
                  <a:pt x="3106447" y="0"/>
                </a:lnTo>
                <a:lnTo>
                  <a:pt x="3106447" y="1859985"/>
                </a:lnTo>
                <a:lnTo>
                  <a:pt x="0" y="18599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3784807" y="6913308"/>
            <a:ext cx="2685568" cy="2223378"/>
          </a:xfrm>
          <a:custGeom>
            <a:avLst/>
            <a:gdLst/>
            <a:ahLst/>
            <a:cxnLst/>
            <a:rect l="l" t="t" r="r" b="b"/>
            <a:pathLst>
              <a:path w="2685568" h="2223378">
                <a:moveTo>
                  <a:pt x="0" y="0"/>
                </a:moveTo>
                <a:lnTo>
                  <a:pt x="2685568" y="0"/>
                </a:lnTo>
                <a:lnTo>
                  <a:pt x="2685568" y="2223378"/>
                </a:lnTo>
                <a:lnTo>
                  <a:pt x="0" y="2223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TextBox 15"/>
          <p:cNvSpPr txBox="1"/>
          <p:nvPr/>
        </p:nvSpPr>
        <p:spPr>
          <a:xfrm>
            <a:off x="1028700" y="1756746"/>
            <a:ext cx="8913197" cy="91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43"/>
              </a:lnSpc>
              <a:spcBef>
                <a:spcPct val="0"/>
              </a:spcBef>
            </a:pPr>
            <a:r>
              <a:rPr lang="en-US" sz="4602" b="1" u="none" strike="noStrike">
                <a:solidFill>
                  <a:srgbClr val="2B598F"/>
                </a:solidFill>
                <a:latin typeface="Agrandir Bold"/>
                <a:ea typeface="Agrandir Bold"/>
                <a:cs typeface="Agrandir Bold"/>
                <a:sym typeface="Agrandir Bold"/>
              </a:rPr>
              <a:t>Supervision avec TensorBoard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4176941" y="-3741"/>
            <a:ext cx="4107319" cy="4114800"/>
          </a:xfrm>
          <a:custGeom>
            <a:avLst/>
            <a:gdLst/>
            <a:ahLst/>
            <a:cxnLst/>
            <a:rect l="l" t="t" r="r" b="b"/>
            <a:pathLst>
              <a:path w="4107319" h="4114800">
                <a:moveTo>
                  <a:pt x="0" y="0"/>
                </a:moveTo>
                <a:lnTo>
                  <a:pt x="4107318" y="0"/>
                </a:lnTo>
                <a:lnTo>
                  <a:pt x="41073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619125"/>
            <a:ext cx="15811500" cy="14603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2053"/>
              </a:lnSpc>
              <a:spcBef>
                <a:spcPct val="0"/>
              </a:spcBef>
            </a:pPr>
            <a:r>
              <a:rPr lang="en-US" sz="8609" b="1" u="none" strike="noStrike" dirty="0">
                <a:solidFill>
                  <a:srgbClr val="2B598F"/>
                </a:solidFill>
                <a:latin typeface="Agrandir Bold"/>
                <a:ea typeface="Agrandir Bold"/>
                <a:cs typeface="Agrandir Bold"/>
                <a:sym typeface="Agrandir Bold"/>
              </a:rPr>
              <a:t>Performance – Port 6006</a:t>
            </a:r>
          </a:p>
        </p:txBody>
      </p:sp>
      <p:sp>
        <p:nvSpPr>
          <p:cNvPr id="4" name="Freeform 4"/>
          <p:cNvSpPr/>
          <p:nvPr/>
        </p:nvSpPr>
        <p:spPr>
          <a:xfrm rot="5400000">
            <a:off x="3741" y="6175941"/>
            <a:ext cx="4107319" cy="4114800"/>
          </a:xfrm>
          <a:custGeom>
            <a:avLst/>
            <a:gdLst/>
            <a:ahLst/>
            <a:cxnLst/>
            <a:rect l="l" t="t" r="r" b="b"/>
            <a:pathLst>
              <a:path w="4107319" h="4114800">
                <a:moveTo>
                  <a:pt x="0" y="0"/>
                </a:moveTo>
                <a:lnTo>
                  <a:pt x="4107318" y="0"/>
                </a:lnTo>
                <a:lnTo>
                  <a:pt x="41073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88" y="1833775"/>
            <a:ext cx="7216158" cy="8145743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8104928" y="3984431"/>
            <a:ext cx="8974827" cy="5273869"/>
            <a:chOff x="0" y="0"/>
            <a:chExt cx="2368228" cy="13916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8228" cy="1391640"/>
            </a:xfrm>
            <a:custGeom>
              <a:avLst/>
              <a:gdLst/>
              <a:ahLst/>
              <a:cxnLst/>
              <a:rect l="l" t="t" r="r" b="b"/>
              <a:pathLst>
                <a:path w="2368228" h="1391640">
                  <a:moveTo>
                    <a:pt x="25016" y="0"/>
                  </a:moveTo>
                  <a:lnTo>
                    <a:pt x="2343212" y="0"/>
                  </a:lnTo>
                  <a:cubicBezTo>
                    <a:pt x="2349847" y="0"/>
                    <a:pt x="2356210" y="2636"/>
                    <a:pt x="2360901" y="7327"/>
                  </a:cubicBezTo>
                  <a:cubicBezTo>
                    <a:pt x="2365592" y="12019"/>
                    <a:pt x="2368228" y="18381"/>
                    <a:pt x="2368228" y="25016"/>
                  </a:cubicBezTo>
                  <a:lnTo>
                    <a:pt x="2368228" y="1366623"/>
                  </a:lnTo>
                  <a:cubicBezTo>
                    <a:pt x="2368228" y="1373258"/>
                    <a:pt x="2365592" y="1379621"/>
                    <a:pt x="2360901" y="1384312"/>
                  </a:cubicBezTo>
                  <a:cubicBezTo>
                    <a:pt x="2356210" y="1389004"/>
                    <a:pt x="2349847" y="1391640"/>
                    <a:pt x="2343212" y="1391640"/>
                  </a:cubicBezTo>
                  <a:lnTo>
                    <a:pt x="25016" y="1391640"/>
                  </a:lnTo>
                  <a:cubicBezTo>
                    <a:pt x="18381" y="1391640"/>
                    <a:pt x="12019" y="1389004"/>
                    <a:pt x="7327" y="1384312"/>
                  </a:cubicBezTo>
                  <a:cubicBezTo>
                    <a:pt x="2636" y="1379621"/>
                    <a:pt x="0" y="1373258"/>
                    <a:pt x="0" y="1366623"/>
                  </a:cubicBezTo>
                  <a:lnTo>
                    <a:pt x="0" y="25016"/>
                  </a:lnTo>
                  <a:cubicBezTo>
                    <a:pt x="0" y="18381"/>
                    <a:pt x="2636" y="12019"/>
                    <a:pt x="7327" y="7327"/>
                  </a:cubicBezTo>
                  <a:cubicBezTo>
                    <a:pt x="12019" y="2636"/>
                    <a:pt x="18381" y="0"/>
                    <a:pt x="25016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368228" cy="1429740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8715896" y="4297307"/>
            <a:ext cx="428104" cy="428104"/>
          </a:xfrm>
          <a:custGeom>
            <a:avLst/>
            <a:gdLst/>
            <a:ahLst/>
            <a:cxnLst/>
            <a:rect l="l" t="t" r="r" b="b"/>
            <a:pathLst>
              <a:path w="428104" h="428104">
                <a:moveTo>
                  <a:pt x="0" y="0"/>
                </a:moveTo>
                <a:lnTo>
                  <a:pt x="428104" y="0"/>
                </a:lnTo>
                <a:lnTo>
                  <a:pt x="428104" y="428103"/>
                </a:lnTo>
                <a:lnTo>
                  <a:pt x="0" y="4281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501845" y="7149589"/>
            <a:ext cx="428104" cy="428104"/>
          </a:xfrm>
          <a:custGeom>
            <a:avLst/>
            <a:gdLst/>
            <a:ahLst/>
            <a:cxnLst/>
            <a:rect l="l" t="t" r="r" b="b"/>
            <a:pathLst>
              <a:path w="428104" h="428104">
                <a:moveTo>
                  <a:pt x="0" y="0"/>
                </a:moveTo>
                <a:lnTo>
                  <a:pt x="428103" y="0"/>
                </a:lnTo>
                <a:lnTo>
                  <a:pt x="428103" y="428104"/>
                </a:lnTo>
                <a:lnTo>
                  <a:pt x="0" y="4281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632787" y="4473259"/>
            <a:ext cx="6860619" cy="1433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94"/>
              </a:lnSpc>
              <a:spcBef>
                <a:spcPct val="0"/>
              </a:spcBef>
            </a:pPr>
            <a:r>
              <a:rPr lang="en-US" sz="2067" u="none" strike="noStrike" spc="1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Convergence sans surapprentissage : les courbes d'accuracy (entraînement et validation) progressent de concert, atteignant une précision finale de 97.64% sans divergence notable entre les deux séries.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32787" y="7111489"/>
            <a:ext cx="6860619" cy="1433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94"/>
              </a:lnSpc>
              <a:spcBef>
                <a:spcPct val="0"/>
              </a:spcBef>
            </a:pPr>
            <a:r>
              <a:rPr lang="en-US" sz="2067" u="none" strike="noStrike" spc="1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La courbe de loss décroît régulièrement sur les 20 époques. La descente de gradient converge de façon stable, confirmant l'efficacité de la réduction PCA à 50 composantes pour la classification MNIST.</a:t>
            </a:r>
          </a:p>
        </p:txBody>
      </p:sp>
    </p:spTree>
  </p:cSld>
  <p:clrMapOvr>
    <a:masterClrMapping/>
  </p:clrMapOvr>
  <p:transition spd="slow">
    <p:comb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9601200" y="1307274"/>
            <a:ext cx="8331128" cy="6727386"/>
          </a:xfrm>
          <a:custGeom>
            <a:avLst/>
            <a:gdLst/>
            <a:ahLst/>
            <a:cxnLst/>
            <a:rect l="l" t="t" r="r" b="b"/>
            <a:pathLst>
              <a:path w="8331128" h="6727386">
                <a:moveTo>
                  <a:pt x="0" y="0"/>
                </a:moveTo>
                <a:lnTo>
                  <a:pt x="8331128" y="0"/>
                </a:lnTo>
                <a:lnTo>
                  <a:pt x="8331128" y="6727386"/>
                </a:lnTo>
                <a:lnTo>
                  <a:pt x="0" y="6727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4" name="Freeform 4"/>
          <p:cNvSpPr/>
          <p:nvPr/>
        </p:nvSpPr>
        <p:spPr>
          <a:xfrm>
            <a:off x="693804" y="8576433"/>
            <a:ext cx="1242776" cy="779666"/>
          </a:xfrm>
          <a:custGeom>
            <a:avLst/>
            <a:gdLst/>
            <a:ahLst/>
            <a:cxnLst/>
            <a:rect l="l" t="t" r="r" b="b"/>
            <a:pathLst>
              <a:path w="1242776" h="779666">
                <a:moveTo>
                  <a:pt x="0" y="0"/>
                </a:moveTo>
                <a:lnTo>
                  <a:pt x="1242777" y="0"/>
                </a:lnTo>
                <a:lnTo>
                  <a:pt x="1242777" y="779667"/>
                </a:lnTo>
                <a:lnTo>
                  <a:pt x="0" y="7796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1963430" y="8445642"/>
            <a:ext cx="3817770" cy="22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1"/>
              </a:lnSpc>
            </a:pPr>
            <a:r>
              <a:rPr lang="en-US" sz="1287" spc="6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Wiam Chentouf – Master S2 IA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63430" y="8779510"/>
            <a:ext cx="3817770" cy="306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1"/>
              </a:lnSpc>
            </a:pPr>
            <a:r>
              <a:rPr lang="en-US" sz="1801" b="1" spc="9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Machine Learning – FSJES Tanger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04850"/>
            <a:ext cx="11496725" cy="1367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7"/>
              </a:lnSpc>
              <a:spcBef>
                <a:spcPct val="0"/>
              </a:spcBef>
            </a:pPr>
            <a:r>
              <a:rPr lang="en-US" sz="6905" b="1" u="none" strike="noStrike">
                <a:solidFill>
                  <a:srgbClr val="2B598F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Conclusion &amp; Perspectives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3804" y="3695700"/>
            <a:ext cx="8331128" cy="19505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193"/>
              </a:lnSpc>
              <a:spcBef>
                <a:spcPct val="0"/>
              </a:spcBef>
            </a:pPr>
            <a:r>
              <a:rPr lang="en-US" sz="1566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• PCA </a:t>
            </a:r>
            <a:r>
              <a:rPr lang="en-US" sz="1566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linéaire</a:t>
            </a:r>
            <a:r>
              <a:rPr lang="en-US" sz="1566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: </a:t>
            </a:r>
            <a:r>
              <a:rPr lang="en-US" sz="1566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compromis</a:t>
            </a:r>
            <a:r>
              <a:rPr lang="en-US" sz="1566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66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efficace</a:t>
            </a:r>
            <a:r>
              <a:rPr lang="en-US" sz="1566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entre </a:t>
            </a:r>
            <a:r>
              <a:rPr lang="en-US" sz="1566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réduction</a:t>
            </a:r>
            <a:r>
              <a:rPr lang="en-US" sz="1566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1566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dimensionnalité</a:t>
            </a:r>
            <a:r>
              <a:rPr lang="en-US" sz="1566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et </a:t>
            </a:r>
            <a:r>
              <a:rPr lang="en-US" sz="1566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qualité</a:t>
            </a:r>
            <a:r>
              <a:rPr lang="en-US" sz="1566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(784 → 50 dims)</a:t>
            </a:r>
          </a:p>
          <a:p>
            <a:pPr marL="0" lvl="0" indent="0" algn="l">
              <a:lnSpc>
                <a:spcPts val="2193"/>
              </a:lnSpc>
              <a:spcBef>
                <a:spcPct val="0"/>
              </a:spcBef>
            </a:pPr>
            <a:r>
              <a:rPr lang="en-US" sz="1566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• Denoising naturel par suppression des </a:t>
            </a:r>
            <a:r>
              <a:rPr lang="en-US" sz="1566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composantes</a:t>
            </a:r>
            <a:r>
              <a:rPr lang="en-US" sz="1566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à </a:t>
            </a:r>
            <a:r>
              <a:rPr lang="en-US" sz="1566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faible</a:t>
            </a:r>
            <a:r>
              <a:rPr lang="en-US" sz="1566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variance</a:t>
            </a:r>
          </a:p>
          <a:p>
            <a:pPr marL="0" lvl="0" indent="0" algn="l">
              <a:lnSpc>
                <a:spcPts val="2193"/>
              </a:lnSpc>
              <a:spcBef>
                <a:spcPct val="0"/>
              </a:spcBef>
            </a:pPr>
            <a:r>
              <a:rPr lang="en-US" sz="1566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• </a:t>
            </a:r>
            <a:r>
              <a:rPr lang="en-US" sz="1566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Précision</a:t>
            </a:r>
            <a:r>
              <a:rPr lang="en-US" sz="1566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finale </a:t>
            </a:r>
            <a:r>
              <a:rPr lang="en-US" sz="1566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atteinte</a:t>
            </a:r>
            <a:r>
              <a:rPr lang="en-US" sz="1566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: 97,64% avec réseau Dense sur </a:t>
            </a:r>
            <a:r>
              <a:rPr lang="en-US" sz="1566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espace</a:t>
            </a:r>
            <a:r>
              <a:rPr lang="en-US" sz="1566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latent</a:t>
            </a:r>
          </a:p>
          <a:p>
            <a:pPr marL="0" lvl="0" indent="0" algn="l">
              <a:lnSpc>
                <a:spcPts val="2193"/>
              </a:lnSpc>
              <a:spcBef>
                <a:spcPct val="0"/>
              </a:spcBef>
            </a:pPr>
            <a:r>
              <a:rPr lang="en-US" sz="1566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• </a:t>
            </a:r>
            <a:r>
              <a:rPr lang="en-US" sz="1566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Limites</a:t>
            </a:r>
            <a:r>
              <a:rPr lang="en-US" sz="1566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: </a:t>
            </a:r>
            <a:r>
              <a:rPr lang="en-US" sz="1566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frontières</a:t>
            </a:r>
            <a:r>
              <a:rPr lang="en-US" sz="1566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1566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décision</a:t>
            </a:r>
            <a:r>
              <a:rPr lang="en-US" sz="1566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non </a:t>
            </a:r>
            <a:r>
              <a:rPr lang="en-US" sz="1566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linéaires</a:t>
            </a:r>
            <a:r>
              <a:rPr lang="en-US" sz="1566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66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difficiles</a:t>
            </a:r>
            <a:r>
              <a:rPr lang="en-US" sz="1566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à capturer</a:t>
            </a:r>
          </a:p>
          <a:p>
            <a:pPr marL="0" lvl="0" indent="0" algn="l">
              <a:lnSpc>
                <a:spcPts val="2193"/>
              </a:lnSpc>
              <a:spcBef>
                <a:spcPct val="0"/>
              </a:spcBef>
            </a:pPr>
            <a:r>
              <a:rPr lang="en-US" sz="1566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• Perspectives : Kernel PCA, Autoencoders, Deep Learning </a:t>
            </a:r>
            <a:r>
              <a:rPr lang="en-US" sz="1566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avancé</a:t>
            </a:r>
            <a:endParaRPr lang="en-US" sz="1566" u="none" strike="noStrike" spc="7" dirty="0">
              <a:solidFill>
                <a:srgbClr val="181D2B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0" lvl="0" indent="0" algn="l">
              <a:lnSpc>
                <a:spcPts val="2193"/>
              </a:lnSpc>
              <a:spcBef>
                <a:spcPct val="0"/>
              </a:spcBef>
            </a:pPr>
            <a:r>
              <a:rPr lang="en-US" sz="1566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• Applications futures </a:t>
            </a:r>
            <a:r>
              <a:rPr lang="en-US" sz="1566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en</a:t>
            </a:r>
            <a:r>
              <a:rPr lang="en-US" sz="1566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vision, NLP et </a:t>
            </a:r>
            <a:r>
              <a:rPr lang="en-US" sz="1566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représentation</a:t>
            </a:r>
            <a:r>
              <a:rPr lang="en-US" sz="1566" u="none" strike="noStrike" spc="7" dirty="0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66" u="none" strike="noStrike" spc="7" dirty="0" err="1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latente</a:t>
            </a:r>
            <a:endParaRPr lang="en-US" sz="1566" u="none" strike="noStrike" spc="7" dirty="0">
              <a:solidFill>
                <a:srgbClr val="181D2B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  <p:transition spd="slow">
    <p:wheel spokes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297756"/>
            <a:ext cx="16230600" cy="1367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7"/>
              </a:lnSpc>
              <a:spcBef>
                <a:spcPct val="0"/>
              </a:spcBef>
            </a:pPr>
            <a:r>
              <a:rPr lang="en-US" sz="6905" b="1">
                <a:solidFill>
                  <a:srgbClr val="2B598F"/>
                </a:solidFill>
                <a:latin typeface="Agrandir Bold"/>
                <a:ea typeface="Agrandir Bold"/>
                <a:cs typeface="Agrandir Bold"/>
                <a:sym typeface="Agrandir Bold"/>
              </a:rPr>
              <a:t>Merci pour votre attention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1011</Words>
  <Application>Microsoft Office PowerPoint</Application>
  <PresentationFormat>Personnalisé</PresentationFormat>
  <Paragraphs>89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Agrandir Bold</vt:lpstr>
      <vt:lpstr>Open Sauce</vt:lpstr>
      <vt:lpstr>Arial</vt:lpstr>
      <vt:lpstr>Open Sauce Bold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Réduction de Dimensionnalité et Denoising MNIST via PCA</dc:title>
  <cp:lastModifiedBy>LENOVO</cp:lastModifiedBy>
  <cp:revision>3</cp:revision>
  <dcterms:created xsi:type="dcterms:W3CDTF">2006-08-16T00:00:00Z</dcterms:created>
  <dcterms:modified xsi:type="dcterms:W3CDTF">2026-06-09T22:19:17Z</dcterms:modified>
  <dc:identifier>DAHLvaZMoLY</dc:identifier>
</cp:coreProperties>
</file>