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Bobby Jones" panose="020B0604020202020204" charset="0"/>
      <p:regular r:id="rId10"/>
    </p:embeddedFont>
    <p:embeddedFont>
      <p:font typeface="Sniglet"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2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648"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9CF74-A7D6-40A1-9D40-B026646DA6C9}" type="datetimeFigureOut">
              <a:rPr lang="fr-FR" smtClean="0"/>
              <a:t>18/06/2026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777B5-664A-4A68-8D8F-384DEA55C246}" type="slidenum">
              <a:rPr lang="fr-FR" smtClean="0"/>
              <a:t>‹N°›</a:t>
            </a:fld>
            <a:endParaRPr lang="fr-FR"/>
          </a:p>
        </p:txBody>
      </p:sp>
    </p:spTree>
    <p:extLst>
      <p:ext uri="{BB962C8B-B14F-4D97-AF65-F5344CB8AC3E}">
        <p14:creationId xmlns:p14="http://schemas.microsoft.com/office/powerpoint/2010/main" val="857366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Je vais vous présenter aujourd'hui mon travail sur les Séparateurs à Vaste Marge, plus communément appelés SVM. Ce projet s'inscrit dans le cadre du module de Machine Learning et a été encadré par le Docteur Tali Abdelhak."</a:t>
            </a:r>
          </a:p>
        </p:txBody>
      </p:sp>
      <p:sp>
        <p:nvSpPr>
          <p:cNvPr id="4" name="Espace réservé du numéro de diapositive 3"/>
          <p:cNvSpPr>
            <a:spLocks noGrp="1"/>
          </p:cNvSpPr>
          <p:nvPr>
            <p:ph type="sldNum" sz="quarter" idx="5"/>
          </p:nvPr>
        </p:nvSpPr>
        <p:spPr/>
        <p:txBody>
          <a:bodyPr/>
          <a:lstStyle/>
          <a:p>
            <a:fld id="{9A0777B5-664A-4A68-8D8F-384DEA55C246}" type="slidenum">
              <a:rPr lang="fr-FR" smtClean="0"/>
              <a:t>1</a:t>
            </a:fld>
            <a:endParaRPr lang="fr-FR"/>
          </a:p>
        </p:txBody>
      </p:sp>
    </p:spTree>
    <p:extLst>
      <p:ext uri="{BB962C8B-B14F-4D97-AF65-F5344CB8AC3E}">
        <p14:creationId xmlns:p14="http://schemas.microsoft.com/office/powerpoint/2010/main" val="3008740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Je vais vous présenter aujourd'hui mon travail sur les Séparateurs à Vaste Marge, plus communément appelés SVM. Ce projet s'inscrit dans le cadre du module de Machine Learning et a été encadré par le Docteur Tali Abdelhak."</a:t>
            </a:r>
          </a:p>
        </p:txBody>
      </p:sp>
      <p:sp>
        <p:nvSpPr>
          <p:cNvPr id="4" name="Espace réservé du numéro de diapositive 3"/>
          <p:cNvSpPr>
            <a:spLocks noGrp="1"/>
          </p:cNvSpPr>
          <p:nvPr>
            <p:ph type="sldNum" sz="quarter" idx="5"/>
          </p:nvPr>
        </p:nvSpPr>
        <p:spPr/>
        <p:txBody>
          <a:bodyPr/>
          <a:lstStyle/>
          <a:p>
            <a:fld id="{9A0777B5-664A-4A68-8D8F-384DEA55C246}" type="slidenum">
              <a:rPr lang="fr-FR" smtClean="0"/>
              <a:t>2</a:t>
            </a:fld>
            <a:endParaRPr lang="fr-FR"/>
          </a:p>
        </p:txBody>
      </p:sp>
    </p:spTree>
    <p:extLst>
      <p:ext uri="{BB962C8B-B14F-4D97-AF65-F5344CB8AC3E}">
        <p14:creationId xmlns:p14="http://schemas.microsoft.com/office/powerpoint/2010/main" val="39711038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commencer, qu'est-ce qu'un SVM ? C'est un algorithme d'apprentissage supervisé qui figure parmi les plus puissants et les plus populaires en Intelligence Artificielle. Son rôle principal est de résoudre des problèmes de classification. En d'autres termes, il permet d'apprendre à un ordinateur à séparer et catégoriser automatiquement des données de manière autonome."</a:t>
            </a:r>
          </a:p>
        </p:txBody>
      </p:sp>
      <p:sp>
        <p:nvSpPr>
          <p:cNvPr id="4" name="Espace réservé du numéro de diapositive 3"/>
          <p:cNvSpPr>
            <a:spLocks noGrp="1"/>
          </p:cNvSpPr>
          <p:nvPr>
            <p:ph type="sldNum" sz="quarter" idx="5"/>
          </p:nvPr>
        </p:nvSpPr>
        <p:spPr/>
        <p:txBody>
          <a:bodyPr/>
          <a:lstStyle/>
          <a:p>
            <a:fld id="{9A0777B5-664A-4A68-8D8F-384DEA55C246}" type="slidenum">
              <a:rPr lang="fr-FR" smtClean="0"/>
              <a:t>3</a:t>
            </a:fld>
            <a:endParaRPr lang="fr-FR"/>
          </a:p>
        </p:txBody>
      </p:sp>
    </p:spTree>
    <p:extLst>
      <p:ext uri="{BB962C8B-B14F-4D97-AF65-F5344CB8AC3E}">
        <p14:creationId xmlns:p14="http://schemas.microsoft.com/office/powerpoint/2010/main" val="3606395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11A"/>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6754" y="5498059"/>
            <a:ext cx="6430468" cy="5120260"/>
          </a:xfrm>
          <a:custGeom>
            <a:avLst/>
            <a:gdLst/>
            <a:ahLst/>
            <a:cxnLst/>
            <a:rect l="l" t="t" r="r" b="b"/>
            <a:pathLst>
              <a:path w="6430468" h="5120260">
                <a:moveTo>
                  <a:pt x="0" y="0"/>
                </a:moveTo>
                <a:lnTo>
                  <a:pt x="6430468" y="0"/>
                </a:lnTo>
                <a:lnTo>
                  <a:pt x="6430468" y="5120260"/>
                </a:lnTo>
                <a:lnTo>
                  <a:pt x="0" y="5120260"/>
                </a:lnTo>
                <a:lnTo>
                  <a:pt x="0" y="0"/>
                </a:lnTo>
                <a:close/>
              </a:path>
            </a:pathLst>
          </a:custGeom>
          <a:blipFill>
            <a:blip r:embed="rId3"/>
            <a:stretch>
              <a:fillRect/>
            </a:stretch>
          </a:blipFill>
        </p:spPr>
      </p:sp>
      <p:sp>
        <p:nvSpPr>
          <p:cNvPr id="6" name="TextBox 6"/>
          <p:cNvSpPr txBox="1"/>
          <p:nvPr/>
        </p:nvSpPr>
        <p:spPr>
          <a:xfrm>
            <a:off x="1028700" y="2093697"/>
            <a:ext cx="15839057" cy="1395022"/>
          </a:xfrm>
          <a:prstGeom prst="rect">
            <a:avLst/>
          </a:prstGeom>
        </p:spPr>
        <p:txBody>
          <a:bodyPr lIns="0" tIns="0" rIns="0" bIns="0" rtlCol="0" anchor="t">
            <a:spAutoFit/>
          </a:bodyPr>
          <a:lstStyle/>
          <a:p>
            <a:pPr marL="0" lvl="0" indent="0" algn="r">
              <a:lnSpc>
                <a:spcPts val="10911"/>
              </a:lnSpc>
            </a:pPr>
            <a:r>
              <a:rPr lang="en-US" sz="8871">
                <a:solidFill>
                  <a:srgbClr val="000000"/>
                </a:solidFill>
                <a:latin typeface="Bobby Jones"/>
                <a:ea typeface="Bobby Jones"/>
                <a:cs typeface="Bobby Jones"/>
                <a:sym typeface="Bobby Jones"/>
              </a:rPr>
              <a:t>séparateurs á vaste marge</a:t>
            </a:r>
          </a:p>
        </p:txBody>
      </p:sp>
      <p:sp>
        <p:nvSpPr>
          <p:cNvPr id="7" name="TextBox 7"/>
          <p:cNvSpPr txBox="1"/>
          <p:nvPr/>
        </p:nvSpPr>
        <p:spPr>
          <a:xfrm>
            <a:off x="11168018" y="9016655"/>
            <a:ext cx="7119982" cy="426139"/>
          </a:xfrm>
          <a:prstGeom prst="rect">
            <a:avLst/>
          </a:prstGeom>
        </p:spPr>
        <p:txBody>
          <a:bodyPr lIns="0" tIns="0" rIns="0" bIns="0" rtlCol="0" anchor="t">
            <a:spAutoFit/>
          </a:bodyPr>
          <a:lstStyle/>
          <a:p>
            <a:pPr algn="ctr">
              <a:lnSpc>
                <a:spcPts val="3418"/>
              </a:lnSpc>
            </a:pPr>
            <a:r>
              <a:rPr lang="en-US" sz="2442">
                <a:solidFill>
                  <a:srgbClr val="000000"/>
                </a:solidFill>
                <a:latin typeface="Bobby Jones"/>
                <a:ea typeface="Bobby Jones"/>
                <a:cs typeface="Bobby Jones"/>
                <a:sym typeface="Bobby Jones"/>
              </a:rPr>
              <a:t>presenté par: CHENTOUF WIAM</a:t>
            </a:r>
          </a:p>
        </p:txBody>
      </p:sp>
      <p:sp>
        <p:nvSpPr>
          <p:cNvPr id="8" name="TextBox 8"/>
          <p:cNvSpPr txBox="1"/>
          <p:nvPr/>
        </p:nvSpPr>
        <p:spPr>
          <a:xfrm>
            <a:off x="6361377" y="8553717"/>
            <a:ext cx="5228883" cy="889077"/>
          </a:xfrm>
          <a:prstGeom prst="rect">
            <a:avLst/>
          </a:prstGeom>
        </p:spPr>
        <p:txBody>
          <a:bodyPr lIns="0" tIns="0" rIns="0" bIns="0" rtlCol="0" anchor="t">
            <a:spAutoFit/>
          </a:bodyPr>
          <a:lstStyle/>
          <a:p>
            <a:pPr algn="ctr">
              <a:lnSpc>
                <a:spcPts val="3514"/>
              </a:lnSpc>
            </a:pPr>
            <a:r>
              <a:rPr lang="en-US" sz="2510">
                <a:solidFill>
                  <a:srgbClr val="000000"/>
                </a:solidFill>
                <a:latin typeface="Bobby Jones"/>
                <a:ea typeface="Bobby Jones"/>
                <a:cs typeface="Bobby Jones"/>
                <a:sym typeface="Bobby Jones"/>
              </a:rPr>
              <a:t>module: machine learning </a:t>
            </a:r>
          </a:p>
          <a:p>
            <a:pPr algn="ctr">
              <a:lnSpc>
                <a:spcPts val="3514"/>
              </a:lnSpc>
            </a:pPr>
            <a:r>
              <a:rPr lang="en-US" sz="2510">
                <a:solidFill>
                  <a:srgbClr val="000000"/>
                </a:solidFill>
                <a:latin typeface="Bobby Jones"/>
                <a:ea typeface="Bobby Jones"/>
                <a:cs typeface="Bobby Jones"/>
                <a:sym typeface="Bobby Jones"/>
              </a:rPr>
              <a:t>encadré par: dr.tali abdelhak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3211A"/>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28575"/>
              <a:ext cx="4544931" cy="24130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028700" y="1208977"/>
            <a:ext cx="6981491" cy="1395022"/>
          </a:xfrm>
          <a:prstGeom prst="rect">
            <a:avLst/>
          </a:prstGeom>
        </p:spPr>
        <p:txBody>
          <a:bodyPr lIns="0" tIns="0" rIns="0" bIns="0" rtlCol="0" anchor="t">
            <a:spAutoFit/>
          </a:bodyPr>
          <a:lstStyle/>
          <a:p>
            <a:pPr marL="0" lvl="0" indent="0" algn="r">
              <a:lnSpc>
                <a:spcPts val="10911"/>
              </a:lnSpc>
            </a:pPr>
            <a:r>
              <a:rPr lang="en-US" sz="8871">
                <a:solidFill>
                  <a:srgbClr val="000000"/>
                </a:solidFill>
                <a:latin typeface="Bobby Jones"/>
                <a:ea typeface="Bobby Jones"/>
                <a:cs typeface="Bobby Jones"/>
                <a:sym typeface="Bobby Jones"/>
              </a:rPr>
              <a:t>introduction</a:t>
            </a:r>
          </a:p>
        </p:txBody>
      </p:sp>
      <p:sp>
        <p:nvSpPr>
          <p:cNvPr id="6" name="TextBox 6"/>
          <p:cNvSpPr txBox="1"/>
          <p:nvPr/>
        </p:nvSpPr>
        <p:spPr>
          <a:xfrm>
            <a:off x="1707019" y="3319780"/>
            <a:ext cx="14873961" cy="3580765"/>
          </a:xfrm>
          <a:prstGeom prst="rect">
            <a:avLst/>
          </a:prstGeom>
        </p:spPr>
        <p:txBody>
          <a:bodyPr lIns="0" tIns="0" rIns="0" bIns="0" rtlCol="0" anchor="t">
            <a:spAutoFit/>
          </a:bodyPr>
          <a:lstStyle/>
          <a:p>
            <a:pPr algn="ctr">
              <a:lnSpc>
                <a:spcPts val="4759"/>
              </a:lnSpc>
            </a:pPr>
            <a:r>
              <a:rPr lang="en-US" sz="3399">
                <a:solidFill>
                  <a:srgbClr val="000000"/>
                </a:solidFill>
                <a:latin typeface="Sniglet"/>
                <a:ea typeface="Sniglet"/>
                <a:cs typeface="Sniglet"/>
                <a:sym typeface="Sniglet"/>
              </a:rPr>
              <a:t>Le SVM pour Support Vector Machine, ou Séparateur à Vaste Marge  est l'un des algorithmes d'apprentissage supervisé les plus puissants et les plus populaires en Intelligence Artificielle. Il est principalement utilisé pour résoudre des problèmes de classification, c'est-à-dire pour apprendre à un ordinateur à séparer automatiquement des données en différentes catégories.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3211A"/>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5763045" y="3576290"/>
            <a:ext cx="17149220" cy="9637046"/>
          </a:xfrm>
          <a:custGeom>
            <a:avLst/>
            <a:gdLst/>
            <a:ahLst/>
            <a:cxnLst/>
            <a:rect l="l" t="t" r="r" b="b"/>
            <a:pathLst>
              <a:path w="17149220" h="9637046">
                <a:moveTo>
                  <a:pt x="0" y="0"/>
                </a:moveTo>
                <a:lnTo>
                  <a:pt x="17149220" y="0"/>
                </a:lnTo>
                <a:lnTo>
                  <a:pt x="17149220" y="9637046"/>
                </a:lnTo>
                <a:lnTo>
                  <a:pt x="0" y="9637046"/>
                </a:lnTo>
                <a:lnTo>
                  <a:pt x="0" y="0"/>
                </a:lnTo>
                <a:close/>
              </a:path>
            </a:pathLst>
          </a:custGeom>
          <a:blipFill>
            <a:blip r:embed="rId3"/>
            <a:stretch>
              <a:fillRect/>
            </a:stretch>
          </a:blipFill>
        </p:spPr>
      </p:sp>
      <p:sp>
        <p:nvSpPr>
          <p:cNvPr id="6" name="TextBox 6"/>
          <p:cNvSpPr txBox="1"/>
          <p:nvPr/>
        </p:nvSpPr>
        <p:spPr>
          <a:xfrm>
            <a:off x="1028700" y="1772902"/>
            <a:ext cx="14090572" cy="1246282"/>
          </a:xfrm>
          <a:prstGeom prst="rect">
            <a:avLst/>
          </a:prstGeom>
        </p:spPr>
        <p:txBody>
          <a:bodyPr lIns="0" tIns="0" rIns="0" bIns="0" rtlCol="0" anchor="t">
            <a:spAutoFit/>
          </a:bodyPr>
          <a:lstStyle/>
          <a:p>
            <a:pPr marL="0" lvl="0" indent="0" algn="l">
              <a:lnSpc>
                <a:spcPts val="9707"/>
              </a:lnSpc>
            </a:pPr>
            <a:r>
              <a:rPr lang="en-US" sz="7891">
                <a:solidFill>
                  <a:srgbClr val="000000"/>
                </a:solidFill>
                <a:latin typeface="Bobby Jones"/>
                <a:ea typeface="Bobby Jones"/>
                <a:cs typeface="Bobby Jones"/>
                <a:sym typeface="Bobby Jones"/>
              </a:rPr>
              <a:t>L'Hyperplan et la Marge</a:t>
            </a:r>
          </a:p>
        </p:txBody>
      </p:sp>
      <p:sp>
        <p:nvSpPr>
          <p:cNvPr id="7" name="TextBox 7"/>
          <p:cNvSpPr txBox="1"/>
          <p:nvPr/>
        </p:nvSpPr>
        <p:spPr>
          <a:xfrm>
            <a:off x="1449154" y="3509615"/>
            <a:ext cx="10163140" cy="2675047"/>
          </a:xfrm>
          <a:prstGeom prst="rect">
            <a:avLst/>
          </a:prstGeom>
        </p:spPr>
        <p:txBody>
          <a:bodyPr lIns="0" tIns="0" rIns="0" bIns="0" rtlCol="0" anchor="t">
            <a:spAutoFit/>
          </a:bodyPr>
          <a:lstStyle/>
          <a:p>
            <a:pPr marL="0" lvl="0" indent="0" algn="l">
              <a:lnSpc>
                <a:spcPts val="5331"/>
              </a:lnSpc>
              <a:spcBef>
                <a:spcPct val="0"/>
              </a:spcBef>
            </a:pPr>
            <a:r>
              <a:rPr lang="en-US" sz="3808">
                <a:solidFill>
                  <a:srgbClr val="000000"/>
                </a:solidFill>
                <a:latin typeface="Sniglet"/>
                <a:ea typeface="Sniglet"/>
                <a:cs typeface="Sniglet"/>
                <a:sym typeface="Sniglet"/>
              </a:rPr>
              <a:t>• Équation de l'hyperplan : f(x) = wᵀx + b = 0</a:t>
            </a:r>
          </a:p>
          <a:p>
            <a:pPr marL="0" lvl="0" indent="0" algn="l">
              <a:lnSpc>
                <a:spcPts val="5331"/>
              </a:lnSpc>
              <a:spcBef>
                <a:spcPct val="0"/>
              </a:spcBef>
            </a:pPr>
            <a:r>
              <a:rPr lang="en-US" sz="3808">
                <a:solidFill>
                  <a:srgbClr val="000000"/>
                </a:solidFill>
                <a:latin typeface="Sniglet"/>
                <a:ea typeface="Sniglet"/>
                <a:cs typeface="Sniglet"/>
                <a:sym typeface="Sniglet"/>
              </a:rPr>
              <a:t>• Marges : wᵀx + b = 1 et wᵀx + b = −1</a:t>
            </a:r>
          </a:p>
          <a:p>
            <a:pPr marL="0" lvl="0" indent="0" algn="l">
              <a:lnSpc>
                <a:spcPts val="5331"/>
              </a:lnSpc>
              <a:spcBef>
                <a:spcPct val="0"/>
              </a:spcBef>
            </a:pPr>
            <a:r>
              <a:rPr lang="en-US" sz="3808">
                <a:solidFill>
                  <a:srgbClr val="000000"/>
                </a:solidFill>
                <a:latin typeface="Sniglet"/>
                <a:ea typeface="Sniglet"/>
                <a:cs typeface="Sniglet"/>
                <a:sym typeface="Sniglet"/>
              </a:rPr>
              <a:t>• Optimisation : minimiser ||w|| sous contraintes de classification correcte.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3211A"/>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1967259" y="5028684"/>
            <a:ext cx="6070850" cy="6745389"/>
          </a:xfrm>
          <a:custGeom>
            <a:avLst/>
            <a:gdLst/>
            <a:ahLst/>
            <a:cxnLst/>
            <a:rect l="l" t="t" r="r" b="b"/>
            <a:pathLst>
              <a:path w="6070850" h="6745389">
                <a:moveTo>
                  <a:pt x="0" y="0"/>
                </a:moveTo>
                <a:lnTo>
                  <a:pt x="6070850" y="0"/>
                </a:lnTo>
                <a:lnTo>
                  <a:pt x="6070850" y="6745389"/>
                </a:lnTo>
                <a:lnTo>
                  <a:pt x="0" y="6745389"/>
                </a:lnTo>
                <a:lnTo>
                  <a:pt x="0" y="0"/>
                </a:lnTo>
                <a:close/>
              </a:path>
            </a:pathLst>
          </a:custGeom>
          <a:blipFill>
            <a:blip r:embed="rId2"/>
            <a:stretch>
              <a:fillRect/>
            </a:stretch>
          </a:blipFill>
        </p:spPr>
      </p:sp>
      <p:sp>
        <p:nvSpPr>
          <p:cNvPr id="6" name="TextBox 6"/>
          <p:cNvSpPr txBox="1"/>
          <p:nvPr/>
        </p:nvSpPr>
        <p:spPr>
          <a:xfrm>
            <a:off x="1028700" y="3737955"/>
            <a:ext cx="10163140" cy="3170730"/>
          </a:xfrm>
          <a:prstGeom prst="rect">
            <a:avLst/>
          </a:prstGeom>
        </p:spPr>
        <p:txBody>
          <a:bodyPr lIns="0" tIns="0" rIns="0" bIns="0" rtlCol="0" anchor="t">
            <a:spAutoFit/>
          </a:bodyPr>
          <a:lstStyle/>
          <a:p>
            <a:pPr marL="0" lvl="0" indent="0" algn="l">
              <a:lnSpc>
                <a:spcPts val="6360"/>
              </a:lnSpc>
              <a:spcBef>
                <a:spcPct val="0"/>
              </a:spcBef>
            </a:pPr>
            <a:r>
              <a:rPr lang="en-US" sz="4543">
                <a:solidFill>
                  <a:srgbClr val="000000"/>
                </a:solidFill>
                <a:latin typeface="Sniglet"/>
                <a:ea typeface="Sniglet"/>
                <a:cs typeface="Sniglet"/>
                <a:sym typeface="Sniglet"/>
              </a:rPr>
              <a:t>Points x_i satisfaisant y_i(wᵀxᵢ + b) = 1. Seuls ces points déterminent la position finale de l'hyperplan. Supprimer les autres points n'affecte pas la frontière.</a:t>
            </a:r>
          </a:p>
        </p:txBody>
      </p:sp>
      <p:sp>
        <p:nvSpPr>
          <p:cNvPr id="7" name="TextBox 7"/>
          <p:cNvSpPr txBox="1"/>
          <p:nvPr/>
        </p:nvSpPr>
        <p:spPr>
          <a:xfrm>
            <a:off x="1028700" y="1772902"/>
            <a:ext cx="14849087" cy="1246282"/>
          </a:xfrm>
          <a:prstGeom prst="rect">
            <a:avLst/>
          </a:prstGeom>
        </p:spPr>
        <p:txBody>
          <a:bodyPr lIns="0" tIns="0" rIns="0" bIns="0" rtlCol="0" anchor="t">
            <a:spAutoFit/>
          </a:bodyPr>
          <a:lstStyle/>
          <a:p>
            <a:pPr marL="0" lvl="0" indent="0" algn="l">
              <a:lnSpc>
                <a:spcPts val="9707"/>
              </a:lnSpc>
            </a:pPr>
            <a:r>
              <a:rPr lang="en-US" sz="7891">
                <a:solidFill>
                  <a:srgbClr val="000000"/>
                </a:solidFill>
                <a:latin typeface="Bobby Jones"/>
                <a:ea typeface="Bobby Jones"/>
                <a:cs typeface="Bobby Jones"/>
                <a:sym typeface="Bobby Jones"/>
              </a:rPr>
              <a:t>Les Vecteurs Supports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293B"/>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2429129" y="5567077"/>
            <a:ext cx="4896601" cy="4779830"/>
          </a:xfrm>
          <a:custGeom>
            <a:avLst/>
            <a:gdLst/>
            <a:ahLst/>
            <a:cxnLst/>
            <a:rect l="l" t="t" r="r" b="b"/>
            <a:pathLst>
              <a:path w="4896601" h="4779830">
                <a:moveTo>
                  <a:pt x="0" y="0"/>
                </a:moveTo>
                <a:lnTo>
                  <a:pt x="4896601" y="0"/>
                </a:lnTo>
                <a:lnTo>
                  <a:pt x="4896601" y="4779830"/>
                </a:lnTo>
                <a:lnTo>
                  <a:pt x="0" y="4779830"/>
                </a:lnTo>
                <a:lnTo>
                  <a:pt x="0" y="0"/>
                </a:lnTo>
                <a:close/>
              </a:path>
            </a:pathLst>
          </a:custGeom>
          <a:blipFill>
            <a:blip r:embed="rId2"/>
            <a:stretch>
              <a:fillRect/>
            </a:stretch>
          </a:blipFill>
        </p:spPr>
      </p:sp>
      <p:sp>
        <p:nvSpPr>
          <p:cNvPr id="6" name="TextBox 6"/>
          <p:cNvSpPr txBox="1"/>
          <p:nvPr/>
        </p:nvSpPr>
        <p:spPr>
          <a:xfrm>
            <a:off x="1028700" y="3747480"/>
            <a:ext cx="10163140" cy="3591367"/>
          </a:xfrm>
          <a:prstGeom prst="rect">
            <a:avLst/>
          </a:prstGeom>
        </p:spPr>
        <p:txBody>
          <a:bodyPr lIns="0" tIns="0" rIns="0" bIns="0" rtlCol="0" anchor="t">
            <a:spAutoFit/>
          </a:bodyPr>
          <a:lstStyle/>
          <a:p>
            <a:pPr marL="0" lvl="0" indent="0" algn="l">
              <a:lnSpc>
                <a:spcPts val="5750"/>
              </a:lnSpc>
              <a:spcBef>
                <a:spcPct val="0"/>
              </a:spcBef>
            </a:pPr>
            <a:r>
              <a:rPr lang="en-US" sz="4107">
                <a:solidFill>
                  <a:srgbClr val="000000"/>
                </a:solidFill>
                <a:latin typeface="Sniglet"/>
                <a:ea typeface="Sniglet"/>
                <a:cs typeface="Sniglet"/>
                <a:sym typeface="Sniglet"/>
              </a:rPr>
              <a:t>Framework : Scikit-Learn, classe SVC avec kernel='linear'. Données : 100 points fictifs à 2 caractéristiques, deux classes distinctes. Objectif : entraîner un modèle pour séparer classe 0 et classe 1.</a:t>
            </a:r>
          </a:p>
        </p:txBody>
      </p:sp>
      <p:sp>
        <p:nvSpPr>
          <p:cNvPr id="7" name="TextBox 7"/>
          <p:cNvSpPr txBox="1"/>
          <p:nvPr/>
        </p:nvSpPr>
        <p:spPr>
          <a:xfrm>
            <a:off x="1028700" y="1772902"/>
            <a:ext cx="14849087" cy="1246282"/>
          </a:xfrm>
          <a:prstGeom prst="rect">
            <a:avLst/>
          </a:prstGeom>
        </p:spPr>
        <p:txBody>
          <a:bodyPr lIns="0" tIns="0" rIns="0" bIns="0" rtlCol="0" anchor="t">
            <a:spAutoFit/>
          </a:bodyPr>
          <a:lstStyle/>
          <a:p>
            <a:pPr marL="0" lvl="0" indent="0" algn="l">
              <a:lnSpc>
                <a:spcPts val="9707"/>
              </a:lnSpc>
            </a:pPr>
            <a:r>
              <a:rPr lang="en-US" sz="7891">
                <a:solidFill>
                  <a:srgbClr val="000000"/>
                </a:solidFill>
                <a:latin typeface="Bobby Jones"/>
                <a:ea typeface="Bobby Jones"/>
                <a:cs typeface="Bobby Jones"/>
                <a:sym typeface="Bobby Jones"/>
              </a:rPr>
              <a:t>Implémentation du SVM Linéaire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4021615" y="2227357"/>
            <a:ext cx="10244770" cy="7321259"/>
          </a:xfrm>
          <a:custGeom>
            <a:avLst/>
            <a:gdLst/>
            <a:ahLst/>
            <a:cxnLst/>
            <a:rect l="l" t="t" r="r" b="b"/>
            <a:pathLst>
              <a:path w="10244770" h="7321259">
                <a:moveTo>
                  <a:pt x="0" y="0"/>
                </a:moveTo>
                <a:lnTo>
                  <a:pt x="10244770" y="0"/>
                </a:lnTo>
                <a:lnTo>
                  <a:pt x="10244770" y="7321259"/>
                </a:lnTo>
                <a:lnTo>
                  <a:pt x="0" y="7321259"/>
                </a:lnTo>
                <a:lnTo>
                  <a:pt x="0" y="0"/>
                </a:lnTo>
                <a:close/>
              </a:path>
            </a:pathLst>
          </a:custGeom>
          <a:blipFill>
            <a:blip r:embed="rId2"/>
            <a:stretch>
              <a:fillRect l="-29234" t="-31658" r="-38032"/>
            </a:stretch>
          </a:blipFill>
        </p:spPr>
      </p:sp>
      <p:sp>
        <p:nvSpPr>
          <p:cNvPr id="6" name="TextBox 6"/>
          <p:cNvSpPr txBox="1"/>
          <p:nvPr/>
        </p:nvSpPr>
        <p:spPr>
          <a:xfrm>
            <a:off x="4915756" y="981075"/>
            <a:ext cx="8456487" cy="1246282"/>
          </a:xfrm>
          <a:prstGeom prst="rect">
            <a:avLst/>
          </a:prstGeom>
        </p:spPr>
        <p:txBody>
          <a:bodyPr lIns="0" tIns="0" rIns="0" bIns="0" rtlCol="0" anchor="t">
            <a:spAutoFit/>
          </a:bodyPr>
          <a:lstStyle/>
          <a:p>
            <a:pPr marL="0" lvl="0" indent="0" algn="l">
              <a:lnSpc>
                <a:spcPts val="9707"/>
              </a:lnSpc>
            </a:pPr>
            <a:r>
              <a:rPr lang="en-US" sz="7891">
                <a:solidFill>
                  <a:srgbClr val="000000"/>
                </a:solidFill>
                <a:latin typeface="Bobby Jones"/>
                <a:ea typeface="Bobby Jones"/>
                <a:cs typeface="Bobby Jones"/>
                <a:sym typeface="Bobby Jones"/>
              </a:rPr>
              <a:t>Analyse Graphique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515733" y="616771"/>
            <a:ext cx="17256534" cy="9053457"/>
            <a:chOff x="0" y="0"/>
            <a:chExt cx="4544931" cy="2384450"/>
          </a:xfrm>
        </p:grpSpPr>
        <p:sp>
          <p:nvSpPr>
            <p:cNvPr id="3" name="Freeform 3"/>
            <p:cNvSpPr/>
            <p:nvPr/>
          </p:nvSpPr>
          <p:spPr>
            <a:xfrm>
              <a:off x="0" y="0"/>
              <a:ext cx="4544931" cy="2384450"/>
            </a:xfrm>
            <a:custGeom>
              <a:avLst/>
              <a:gdLst/>
              <a:ahLst/>
              <a:cxnLst/>
              <a:rect l="l" t="t" r="r" b="b"/>
              <a:pathLst>
                <a:path w="4544931" h="2384450">
                  <a:moveTo>
                    <a:pt x="11216" y="0"/>
                  </a:moveTo>
                  <a:lnTo>
                    <a:pt x="4533715" y="0"/>
                  </a:lnTo>
                  <a:cubicBezTo>
                    <a:pt x="4539909" y="0"/>
                    <a:pt x="4544931" y="5022"/>
                    <a:pt x="4544931" y="11216"/>
                  </a:cubicBezTo>
                  <a:lnTo>
                    <a:pt x="4544931" y="2373234"/>
                  </a:lnTo>
                  <a:cubicBezTo>
                    <a:pt x="4544931" y="2376208"/>
                    <a:pt x="4543749" y="2379061"/>
                    <a:pt x="4541646" y="2381165"/>
                  </a:cubicBezTo>
                  <a:cubicBezTo>
                    <a:pt x="4539542" y="2383268"/>
                    <a:pt x="4536689" y="2384450"/>
                    <a:pt x="4533715" y="2384450"/>
                  </a:cubicBezTo>
                  <a:lnTo>
                    <a:pt x="11216" y="2384450"/>
                  </a:lnTo>
                  <a:cubicBezTo>
                    <a:pt x="5022" y="2384450"/>
                    <a:pt x="0" y="2379428"/>
                    <a:pt x="0" y="2373234"/>
                  </a:cubicBezTo>
                  <a:lnTo>
                    <a:pt x="0" y="11216"/>
                  </a:lnTo>
                  <a:cubicBezTo>
                    <a:pt x="0" y="5022"/>
                    <a:pt x="5022" y="0"/>
                    <a:pt x="11216" y="0"/>
                  </a:cubicBezTo>
                  <a:close/>
                </a:path>
              </a:pathLst>
            </a:custGeom>
            <a:solidFill>
              <a:srgbClr val="FFFFFF"/>
            </a:solidFill>
          </p:spPr>
        </p:sp>
        <p:sp>
          <p:nvSpPr>
            <p:cNvPr id="4" name="TextBox 4"/>
            <p:cNvSpPr txBox="1"/>
            <p:nvPr/>
          </p:nvSpPr>
          <p:spPr>
            <a:xfrm>
              <a:off x="0" y="-38100"/>
              <a:ext cx="4544931" cy="24225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2205434" y="4255453"/>
            <a:ext cx="13877132" cy="1585594"/>
          </a:xfrm>
          <a:prstGeom prst="rect">
            <a:avLst/>
          </a:prstGeom>
        </p:spPr>
        <p:txBody>
          <a:bodyPr lIns="0" tIns="0" rIns="0" bIns="0" rtlCol="0" anchor="t">
            <a:spAutoFit/>
          </a:bodyPr>
          <a:lstStyle/>
          <a:p>
            <a:pPr algn="ctr">
              <a:lnSpc>
                <a:spcPts val="12880"/>
              </a:lnSpc>
            </a:pPr>
            <a:r>
              <a:rPr lang="en-US" sz="9200">
                <a:solidFill>
                  <a:srgbClr val="000000"/>
                </a:solidFill>
                <a:latin typeface="Bobby Jones"/>
                <a:ea typeface="Bobby Jones"/>
                <a:cs typeface="Bobby Jones"/>
                <a:sym typeface="Bobby Jones"/>
              </a:rPr>
              <a:t>merci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357</Words>
  <Application>Microsoft Office PowerPoint</Application>
  <PresentationFormat>Personnalisé</PresentationFormat>
  <Paragraphs>22</Paragraphs>
  <Slides>7</Slides>
  <Notes>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Calibri</vt:lpstr>
      <vt:lpstr>Bobby Jones</vt:lpstr>
      <vt:lpstr>Arial</vt:lpstr>
      <vt:lpstr>Sniglet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SVM: Théorie et Pratique
</dc:title>
  <cp:lastModifiedBy>LENOVO</cp:lastModifiedBy>
  <cp:revision>2</cp:revision>
  <dcterms:created xsi:type="dcterms:W3CDTF">2006-08-16T00:00:00Z</dcterms:created>
  <dcterms:modified xsi:type="dcterms:W3CDTF">2026-06-18T21:21:40Z</dcterms:modified>
  <dc:identifier>DAHM9JhzayE</dc:identifier>
</cp:coreProperties>
</file>