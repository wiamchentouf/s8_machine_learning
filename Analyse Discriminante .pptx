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Agrandir Bold" charset="1" panose="00000800000000000000"/>
      <p:regular r:id="rId17"/>
    </p:embeddedFont>
    <p:embeddedFont>
      <p:font typeface="Agrandir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7837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3" y="0"/>
                </a:lnTo>
                <a:lnTo>
                  <a:pt x="35901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3590163" y="0"/>
                </a:moveTo>
                <a:lnTo>
                  <a:pt x="0" y="0"/>
                </a:lnTo>
                <a:lnTo>
                  <a:pt x="0" y="8229600"/>
                </a:lnTo>
                <a:lnTo>
                  <a:pt x="3590163" y="8229600"/>
                </a:lnTo>
                <a:lnTo>
                  <a:pt x="3590163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19513" y="2837664"/>
            <a:ext cx="7500709" cy="526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2"/>
              </a:lnSpc>
            </a:pPr>
            <a:r>
              <a:rPr lang="en-US" sz="79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ANALYSE DISCRIMINANTE POUR LA CLASSIFICATION: LDA VS QDA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6279" y="1222941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 spc="-57" u="sng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PRÉSENTÉ PAR: CHENTOUF WIAM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12435" y="9226794"/>
            <a:ext cx="6820346" cy="33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20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06699" y="791492"/>
            <a:ext cx="5674603" cy="43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264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MACHINE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37563" y="2688655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3541127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3940747" y="0"/>
                </a:moveTo>
                <a:lnTo>
                  <a:pt x="0" y="0"/>
                </a:lnTo>
                <a:lnTo>
                  <a:pt x="0" y="4114800"/>
                </a:lnTo>
                <a:lnTo>
                  <a:pt x="3940747" y="4114800"/>
                </a:lnTo>
                <a:lnTo>
                  <a:pt x="394074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24714" y="3967169"/>
            <a:ext cx="7787044" cy="391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Dans le monde du Machine Learning, la classification est une tâche fondamentale qui consiste à prédire la catégorie d'une observation.</a:t>
            </a:r>
          </a:p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Dont l'Analyse Discriminante (LDA et QDA) est une approche statistique puissante pour résoudre ces problèmes.</a:t>
            </a:r>
          </a:p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Et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comprendre comment séparer efficacement les données en choisissant entre la simplicité linéaire et la flexibilité quadratique﻿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62930" y="2893222"/>
            <a:ext cx="4144557" cy="989754"/>
            <a:chOff x="0" y="0"/>
            <a:chExt cx="1017514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04411" y="842393"/>
            <a:ext cx="6450551" cy="56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b="true" sz="3003" spc="-17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ANALYSE DISCRIMINANTE LINÉAIRE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53461" y="4566587"/>
            <a:ext cx="3746228" cy="270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0"/>
              </a:lnSpc>
            </a:pPr>
            <a:r>
              <a:rPr lang="en-US" sz="5135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ANALYSE DISCRIMINANTE  LINEAIRE </a:t>
            </a:r>
          </a:p>
          <a:p>
            <a:pPr algn="l">
              <a:lnSpc>
                <a:spcPts val="53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18236" y="2884789"/>
            <a:ext cx="2173187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spc="4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Classification Supervisée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07487" y="2537975"/>
            <a:ext cx="6650286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 spc="-8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prédit la catégorie d'une donnée en maximisant la séparation entre les groupes.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62930" y="2893222"/>
            <a:ext cx="1081897" cy="989754"/>
            <a:chOff x="0" y="0"/>
            <a:chExt cx="265612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847478" y="30683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62930" y="4353615"/>
            <a:ext cx="4144557" cy="989754"/>
            <a:chOff x="0" y="0"/>
            <a:chExt cx="1017514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018236" y="4445607"/>
            <a:ext cx="2173187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Hypothèse de Covariance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77598" y="4068111"/>
            <a:ext cx="6266188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suppose que toutes les classes partagent la même matrice de covariance (Homoscédasticité).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562930" y="4353615"/>
            <a:ext cx="1081897" cy="989754"/>
            <a:chOff x="0" y="0"/>
            <a:chExt cx="265612" cy="242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47478" y="45287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62930" y="5814008"/>
            <a:ext cx="4144557" cy="989754"/>
            <a:chOff x="0" y="0"/>
            <a:chExt cx="1017514" cy="242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929686" y="5905345"/>
            <a:ext cx="2611378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Frontière Linéaire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77598" y="5709233"/>
            <a:ext cx="5634912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Elle trace des limites de séparation sous forme de lignes droites (en 2D) ou de plans.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62930" y="5814008"/>
            <a:ext cx="1081897" cy="989754"/>
            <a:chOff x="0" y="0"/>
            <a:chExt cx="265612" cy="2429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847478" y="598916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62930" y="7274401"/>
            <a:ext cx="4144557" cy="989754"/>
            <a:chOff x="0" y="0"/>
            <a:chExt cx="1017514" cy="242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929686" y="7429659"/>
            <a:ext cx="3706479" cy="74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Efficacité Mathématique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07487" y="7237953"/>
            <a:ext cx="5066677" cy="17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Modèle simple, rapide à calculer et robuste contre le surapprentissage (overfitting).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562930" y="7274401"/>
            <a:ext cx="1081897" cy="989754"/>
            <a:chOff x="0" y="0"/>
            <a:chExt cx="265612" cy="242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847478" y="744955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30318" y="4354617"/>
            <a:ext cx="4144557" cy="989754"/>
            <a:chOff x="0" y="0"/>
            <a:chExt cx="1017514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30318" y="4354617"/>
            <a:ext cx="1081897" cy="989754"/>
            <a:chOff x="0" y="0"/>
            <a:chExt cx="265612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630318" y="6692398"/>
            <a:ext cx="4144557" cy="989754"/>
            <a:chOff x="0" y="0"/>
            <a:chExt cx="1017514" cy="242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30318" y="6692398"/>
            <a:ext cx="1081897" cy="989754"/>
            <a:chOff x="0" y="0"/>
            <a:chExt cx="265612" cy="24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01292" y="4226143"/>
            <a:ext cx="4144557" cy="989754"/>
            <a:chOff x="0" y="0"/>
            <a:chExt cx="1017514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01292" y="4226143"/>
            <a:ext cx="1081897" cy="989754"/>
            <a:chOff x="0" y="0"/>
            <a:chExt cx="265612" cy="24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79265" y="6563925"/>
            <a:ext cx="4144557" cy="989754"/>
            <a:chOff x="0" y="0"/>
            <a:chExt cx="1017514" cy="2429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79265" y="6563925"/>
            <a:ext cx="1081897" cy="989754"/>
            <a:chOff x="0" y="0"/>
            <a:chExt cx="265612" cy="242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966900" y="548167"/>
            <a:ext cx="6614841" cy="91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  <a:spcBef>
                <a:spcPct val="0"/>
              </a:spcBef>
            </a:pPr>
            <a:r>
              <a:rPr lang="en-US" b="true" sz="3079" spc="-7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ANALYSE DISCRIMINANTE QUADRATIQUE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5265" y="2072514"/>
            <a:ext cx="18288000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spc="41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ANALYSE DISCRIMINANTE QUADRATIQUE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65707" y="4338918"/>
            <a:ext cx="2173187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Flexibilité Accrue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89800" y="5544396"/>
            <a:ext cx="6354200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Contrairement à la LDA, la QDA est plus flexible et peut capturer des relations plus complexes entre les données.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65707" y="6780313"/>
            <a:ext cx="2173187" cy="7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Hypothèse de Covariance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89800" y="7882178"/>
            <a:ext cx="5233100" cy="176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Elle suppose que chaque classe a sa propre matrice de covariance (Hétéroscédasticité), ce qui la rend plus précise si les groupes sont très différents.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14866" y="686755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79265" y="5415923"/>
            <a:ext cx="6089281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Elle trace des limites de séparation sous forme de courbes (paraboles, ellipses) au lieu de simples lignes droites.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85840" y="4401296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79265" y="7753704"/>
            <a:ext cx="5972756" cy="142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Elle nécessite plus de données pour être performante et peut être sensible au surapprentissage (overfitting) si l'échantillon est trop petit.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63813" y="673907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92676" y="4306992"/>
            <a:ext cx="2173187" cy="7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Frontière Quadratique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70649" y="6641637"/>
            <a:ext cx="2173187" cy="7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Sensibilité aux Données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4641" y="2697780"/>
            <a:ext cx="6630779" cy="7068493"/>
          </a:xfrm>
          <a:custGeom>
            <a:avLst/>
            <a:gdLst/>
            <a:ahLst/>
            <a:cxnLst/>
            <a:rect r="r" b="b" t="t" l="l"/>
            <a:pathLst>
              <a:path h="7068493" w="6630779">
                <a:moveTo>
                  <a:pt x="0" y="0"/>
                </a:moveTo>
                <a:lnTo>
                  <a:pt x="6630779" y="0"/>
                </a:lnTo>
                <a:lnTo>
                  <a:pt x="6630779" y="7068493"/>
                </a:lnTo>
                <a:lnTo>
                  <a:pt x="0" y="7068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57818" y="670767"/>
            <a:ext cx="8572364" cy="65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0"/>
              </a:lnSpc>
              <a:spcBef>
                <a:spcPct val="0"/>
              </a:spcBef>
            </a:pPr>
            <a:r>
              <a:rPr lang="en-US" b="true" sz="399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LDA &amp; QDA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30658" y="2302003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CRITÈRES DE CHOIX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30658" y="3426933"/>
            <a:ext cx="9728642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on choisit </a:t>
            </a: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LDA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si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30658" y="4418612"/>
            <a:ext cx="9728642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L'ensemble de données est petit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Les frontières de décision sont approximativement linéaires.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﻿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30658" y="5744276"/>
            <a:ext cx="9728642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on choisit </a:t>
            </a: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QDA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si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30658" y="6736852"/>
            <a:ext cx="9728642" cy="13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L'ensemble de données est grand.</a:t>
            </a:r>
          </a:p>
          <a:p>
            <a:pPr algn="l" marL="554864" indent="-277432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On observe des variances très différentes entre les classes.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43457" y="3580808"/>
            <a:ext cx="5815843" cy="4800714"/>
          </a:xfrm>
          <a:custGeom>
            <a:avLst/>
            <a:gdLst/>
            <a:ahLst/>
            <a:cxnLst/>
            <a:rect r="r" b="b" t="t" l="l"/>
            <a:pathLst>
              <a:path h="4800714" w="5815843">
                <a:moveTo>
                  <a:pt x="0" y="0"/>
                </a:moveTo>
                <a:lnTo>
                  <a:pt x="5815843" y="0"/>
                </a:lnTo>
                <a:lnTo>
                  <a:pt x="5815843" y="4800714"/>
                </a:lnTo>
                <a:lnTo>
                  <a:pt x="0" y="480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8566">
            <a:off x="12064037" y="3699060"/>
            <a:ext cx="4574684" cy="2965492"/>
          </a:xfrm>
          <a:custGeom>
            <a:avLst/>
            <a:gdLst/>
            <a:ahLst/>
            <a:cxnLst/>
            <a:rect r="r" b="b" t="t" l="l"/>
            <a:pathLst>
              <a:path h="2965492" w="4574684">
                <a:moveTo>
                  <a:pt x="0" y="0"/>
                </a:moveTo>
                <a:lnTo>
                  <a:pt x="4574684" y="0"/>
                </a:lnTo>
                <a:lnTo>
                  <a:pt x="4574684" y="2965492"/>
                </a:lnTo>
                <a:lnTo>
                  <a:pt x="0" y="296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373" r="0" b="-9137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05803" y="698086"/>
            <a:ext cx="8065232" cy="61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4"/>
              </a:lnSpc>
              <a:spcBef>
                <a:spcPct val="0"/>
              </a:spcBef>
            </a:pPr>
            <a:r>
              <a:rPr lang="en-US" b="true" sz="375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PARTIE PRATIQUE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5459" y="2326887"/>
            <a:ext cx="1102592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ENVIRONNEMENT ET OUTILS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4682" y="3548962"/>
            <a:ext cx="11025920" cy="263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Language: 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python : Utilisé pour sa richesse en bibliothèques dédiées à la Data Science et sa simplicité d'implémentation.    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Environnement de développement: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Jupyter: Pour une approche interactive permettant de combiner code, visualisations et commentaires.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682" y="6446538"/>
            <a:ext cx="10681333" cy="298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4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Bibliothèque :</a:t>
            </a:r>
          </a:p>
          <a:p>
            <a:pPr algn="l" marL="527212" indent="-263606" lvl="1">
              <a:lnSpc>
                <a:spcPts val="3272"/>
              </a:lnSpc>
              <a:buFont typeface="Arial"/>
              <a:buChar char="•"/>
            </a:pPr>
            <a:r>
              <a:rPr lang="en-US" sz="24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Scikit-Learn : Bibliothèque principale pour l'implémentation des modèles de Machine Learning (LDA et QDA).</a:t>
            </a:r>
          </a:p>
          <a:p>
            <a:pPr algn="l" marL="527212" indent="-263606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Pandas &amp; NumPy : Pour la manipulation des données et les calculs matriciels.</a:t>
            </a:r>
          </a:p>
          <a:p>
            <a:pPr algn="l" marL="527212" indent="-263606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Matplotlib &amp; Seaborn : Pour la génération des graphiques et la visualisation des frontières de décision.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608575"/>
            <a:ext cx="6929502" cy="6277633"/>
          </a:xfrm>
          <a:custGeom>
            <a:avLst/>
            <a:gdLst/>
            <a:ahLst/>
            <a:cxnLst/>
            <a:rect r="r" b="b" t="t" l="l"/>
            <a:pathLst>
              <a:path h="6277633" w="6929502">
                <a:moveTo>
                  <a:pt x="0" y="0"/>
                </a:moveTo>
                <a:lnTo>
                  <a:pt x="6929502" y="0"/>
                </a:lnTo>
                <a:lnTo>
                  <a:pt x="6929502" y="6277633"/>
                </a:lnTo>
                <a:lnTo>
                  <a:pt x="0" y="62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14" r="0" b="-461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IMPLÉMENTATION</a:t>
            </a:r>
            <a:r>
              <a:rPr lang="en-US" sz="204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7027" y="2110892"/>
            <a:ext cx="15508530" cy="112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LE CODE COMPLET AVEC EXPLICATION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01632" y="3879379"/>
            <a:ext cx="8357668" cy="563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Préparation des données : Utilisation du dataset Iris et division des données en deux ensembles : 80% pour l'entraînement et 20% pour le test.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Modélisation : Création et entraînement simultané des deux modèles (LDA et QDA) à l'aide de la bibliothèque scikit-learn.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Évaluation : Calcul de la précision (Accuracy) pour comparer l'efficacité de chaque algorithme sur les données de test.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Visualisation : Génération des frontières de décision pour observer graphiquement la différence entre la séparation linéaire (LDA) et la séparation courbe (QDA).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4692" y="634589"/>
            <a:ext cx="13767088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LA PARTIE IMPORTANTE DANS LE CODAGE</a:t>
            </a:r>
          </a:p>
        </p:txBody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3890653" y="3549232"/>
            <a:ext cx="10506693" cy="6054162"/>
          </a:xfrm>
          <a:custGeom>
            <a:avLst/>
            <a:gdLst/>
            <a:ahLst/>
            <a:cxnLst/>
            <a:rect r="r" b="b" t="t" l="l"/>
            <a:pathLst>
              <a:path h="6054162" w="10506693">
                <a:moveTo>
                  <a:pt x="0" y="0"/>
                </a:moveTo>
                <a:lnTo>
                  <a:pt x="10506694" y="0"/>
                </a:lnTo>
                <a:lnTo>
                  <a:pt x="10506694" y="6054162"/>
                </a:lnTo>
                <a:lnTo>
                  <a:pt x="0" y="6054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0770" y="2311099"/>
            <a:ext cx="1550853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UNE IMPLÉMENTATION SIMPLE AVEC  SKLEARN</a:t>
            </a:r>
          </a:p>
        </p:txBody>
      </p:sp>
    </p:spTree>
  </p:cSld>
  <p:clrMapOvr>
    <a:masterClrMapping/>
  </p:clrMapOvr>
  <p:transition spd="fast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29686" y="3100828"/>
            <a:ext cx="8672861" cy="5011214"/>
          </a:xfrm>
          <a:custGeom>
            <a:avLst/>
            <a:gdLst/>
            <a:ahLst/>
            <a:cxnLst/>
            <a:rect r="r" b="b" t="t" l="l"/>
            <a:pathLst>
              <a:path h="5011214" w="8672861">
                <a:moveTo>
                  <a:pt x="0" y="0"/>
                </a:moveTo>
                <a:lnTo>
                  <a:pt x="8672861" y="0"/>
                </a:lnTo>
                <a:lnTo>
                  <a:pt x="8672861" y="5011214"/>
                </a:lnTo>
                <a:lnTo>
                  <a:pt x="0" y="5011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65" t="0" r="-491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33357" y="712648"/>
            <a:ext cx="4392657" cy="6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COMPARAISON ET COMMENTAIRE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3357" y="2086897"/>
            <a:ext cx="787570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LDA VS QDA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86528"/>
            <a:ext cx="6861588" cy="538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65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Observation :</a:t>
            </a:r>
          </a:p>
          <a:p>
            <a:pPr algn="l" marL="573141" indent="-286571" lvl="1">
              <a:lnSpc>
                <a:spcPts val="3557"/>
              </a:lnSpc>
              <a:buFont typeface="Arial"/>
              <a:buChar char="•"/>
            </a:pPr>
            <a:r>
              <a:rPr lang="en-US" sz="265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Dans ce cas précis, la LDA a obtenu un meilleur score de précision.</a:t>
            </a:r>
          </a:p>
          <a:p>
            <a:pPr algn="l">
              <a:lnSpc>
                <a:spcPts val="3557"/>
              </a:lnSpc>
            </a:pPr>
            <a:r>
              <a:rPr lang="en-US" sz="265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Cela suggère que les frontières entre les classes sont globalement linéaires et que le modèle simple est plus robuste pour ce dataset.</a:t>
            </a:r>
          </a:p>
          <a:p>
            <a:pPr algn="l" marL="573141" indent="-286571" lvl="1">
              <a:lnSpc>
                <a:spcPts val="3557"/>
              </a:lnSpc>
              <a:buFont typeface="Arial"/>
              <a:buChar char="•"/>
            </a:pPr>
            <a:r>
              <a:rPr lang="en-US" sz="265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La QDA, bien que plus flexible, a montré une légère baisse de performance (risque de léger surapprentissage ou manque de données pour estimer chaque covariance.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61197" y="8343179"/>
            <a:ext cx="8541350" cy="172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486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précison:</a:t>
            </a:r>
          </a:p>
          <a:p>
            <a:pPr algn="l" marL="536794" indent="-268397" lvl="1">
              <a:lnSpc>
                <a:spcPts val="3331"/>
              </a:lnSpc>
              <a:buFont typeface="Arial"/>
              <a:buChar char="•"/>
            </a:pPr>
            <a:r>
              <a:rPr lang="en-US" sz="2486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LDA:84,44%</a:t>
            </a:r>
          </a:p>
          <a:p>
            <a:pPr algn="l" marL="536794" indent="-268397" lvl="1">
              <a:lnSpc>
                <a:spcPts val="3331"/>
              </a:lnSpc>
              <a:buFont typeface="Arial"/>
              <a:buChar char="•"/>
            </a:pPr>
            <a:r>
              <a:rPr lang="en-US" sz="2486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QDA:80,00%</a:t>
            </a:r>
          </a:p>
          <a:p>
            <a:pPr algn="l">
              <a:lnSpc>
                <a:spcPts val="333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2088" y="384135"/>
            <a:ext cx="7683898" cy="9518730"/>
          </a:xfrm>
          <a:custGeom>
            <a:avLst/>
            <a:gdLst/>
            <a:ahLst/>
            <a:cxnLst/>
            <a:rect r="r" b="b" t="t" l="l"/>
            <a:pathLst>
              <a:path h="9518730" w="7683898">
                <a:moveTo>
                  <a:pt x="0" y="0"/>
                </a:moveTo>
                <a:lnTo>
                  <a:pt x="7683898" y="0"/>
                </a:lnTo>
                <a:lnTo>
                  <a:pt x="7683898" y="9518730"/>
                </a:lnTo>
                <a:lnTo>
                  <a:pt x="0" y="951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4665" y="2248025"/>
            <a:ext cx="9617423" cy="633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MERCI POUR VOTRE ATTENTION 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DAHIC8sXy1s</dc:identifier>
  <dcterms:modified xsi:type="dcterms:W3CDTF">2011-08-01T06:04:30Z</dcterms:modified>
  <cp:revision>1</cp:revision>
  <dc:title>Analyse Discriminante </dc:title>
</cp:coreProperties>
</file>